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41393169f344c6" /><Relationship Type="http://schemas.openxmlformats.org/officeDocument/2006/relationships/extended-properties" Target="/docProps/app.xml" Id="R6e9589122b4745c6" /><Relationship Type="http://schemas.openxmlformats.org/officeDocument/2006/relationships/officeDocument" Target="/ppt/presentation.xml" Id="Ra7cc0b0363d648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ad97948e7641b1"/>
  </p:sldMasterIdLst>
  <p:notesMasterIdLst>
    <p:notesMasterId xmlns:r="http://schemas.openxmlformats.org/officeDocument/2006/relationships" r:id="R851f744856b94c01"/>
  </p:notesMasterIdLst>
  <p:sldIdLst>
    <p:sldId xmlns:r="http://schemas.openxmlformats.org/officeDocument/2006/relationships" id="256" r:id="Re24f0594a13c454d"/>
    <p:sldId xmlns:r="http://schemas.openxmlformats.org/officeDocument/2006/relationships" id="257" r:id="Ra9f53fd2b743475f"/>
    <p:sldId xmlns:r="http://schemas.openxmlformats.org/officeDocument/2006/relationships" id="258" r:id="R4b8011888d6748d4"/>
    <p:sldId xmlns:r="http://schemas.openxmlformats.org/officeDocument/2006/relationships" id="259" r:id="R63659ae66b744d46"/>
    <p:sldId xmlns:r="http://schemas.openxmlformats.org/officeDocument/2006/relationships" id="260" r:id="R98b5be6b3c044f71"/>
    <p:sldId xmlns:r="http://schemas.openxmlformats.org/officeDocument/2006/relationships" id="261" r:id="R53e2d097555a457d"/>
    <p:sldId xmlns:r="http://schemas.openxmlformats.org/officeDocument/2006/relationships" id="262" r:id="Re02e06c8f80647c9"/>
    <p:sldId xmlns:r="http://schemas.openxmlformats.org/officeDocument/2006/relationships" id="263" r:id="R9de6d08f56f54ead"/>
    <p:sldId xmlns:r="http://schemas.openxmlformats.org/officeDocument/2006/relationships" id="264" r:id="Rc35e68d1878a47c8"/>
    <p:sldId xmlns:r="http://schemas.openxmlformats.org/officeDocument/2006/relationships" id="265" r:id="Ra5bbde7681224e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07f8678f08416d" /><Relationship Type="http://schemas.openxmlformats.org/officeDocument/2006/relationships/slideMaster" Target="/ppt/slideMasters/slideMaster1.xml" Id="R66ad97948e7641b1" /><Relationship Type="http://schemas.openxmlformats.org/officeDocument/2006/relationships/notesMaster" Target="/ppt/notesMasters/notesMaster1.xml" Id="R851f744856b94c01" /><Relationship Type="http://schemas.openxmlformats.org/officeDocument/2006/relationships/presProps" Target="/ppt/presProps.xml" Id="R2ae001e749094239" /><Relationship Type="http://schemas.openxmlformats.org/officeDocument/2006/relationships/tableStyles" Target="/ppt/tableStyles.xml" Id="R5b584f6ddaae469f" /><Relationship Type="http://schemas.openxmlformats.org/officeDocument/2006/relationships/slide" Target="/ppt/slides/slide1.xml" Id="Re24f0594a13c454d" /><Relationship Type="http://schemas.openxmlformats.org/officeDocument/2006/relationships/slide" Target="/ppt/slides/slide2.xml" Id="Ra9f53fd2b743475f" /><Relationship Type="http://schemas.openxmlformats.org/officeDocument/2006/relationships/slide" Target="/ppt/slides/slide3.xml" Id="R4b8011888d6748d4" /><Relationship Type="http://schemas.openxmlformats.org/officeDocument/2006/relationships/slide" Target="/ppt/slides/slide4.xml" Id="R63659ae66b744d46" /><Relationship Type="http://schemas.openxmlformats.org/officeDocument/2006/relationships/slide" Target="/ppt/slides/slide5.xml" Id="R98b5be6b3c044f71" /><Relationship Type="http://schemas.openxmlformats.org/officeDocument/2006/relationships/slide" Target="/ppt/slides/slide6.xml" Id="R53e2d097555a457d" /><Relationship Type="http://schemas.openxmlformats.org/officeDocument/2006/relationships/slide" Target="/ppt/slides/slide7.xml" Id="Re02e06c8f80647c9" /><Relationship Type="http://schemas.openxmlformats.org/officeDocument/2006/relationships/slide" Target="/ppt/slides/slide8.xml" Id="R9de6d08f56f54ead" /><Relationship Type="http://schemas.openxmlformats.org/officeDocument/2006/relationships/slide" Target="/ppt/slides/slide9.xml" Id="Rc35e68d1878a47c8" /><Relationship Type="http://schemas.openxmlformats.org/officeDocument/2006/relationships/slide" Target="/ppt/slides/slide10.xml" Id="Ra5bbde7681224e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f8bd80b3ce4b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0e1d9f3383437f" /><Relationship Type="http://schemas.openxmlformats.org/officeDocument/2006/relationships/notesMaster" Target="/ppt/notesMasters/notesMaster1.xml" Id="Re94c038fe59d4c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de011da26c460d" /><Relationship Type="http://schemas.openxmlformats.org/officeDocument/2006/relationships/notesMaster" Target="/ppt/notesMasters/notesMaster1.xml" Id="Rc551439e4bfa44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e7cdbb3ee64621" /><Relationship Type="http://schemas.openxmlformats.org/officeDocument/2006/relationships/notesMaster" Target="/ppt/notesMasters/notesMaster1.xml" Id="R8b851fcc129d40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65a89670fe4596" /><Relationship Type="http://schemas.openxmlformats.org/officeDocument/2006/relationships/notesMaster" Target="/ppt/notesMasters/notesMaster1.xml" Id="R579382627f0b4e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c7d890cdfe47d9" /><Relationship Type="http://schemas.openxmlformats.org/officeDocument/2006/relationships/notesMaster" Target="/ppt/notesMasters/notesMaster1.xml" Id="Re41a74ccb2c345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3762d5a26a434a" /><Relationship Type="http://schemas.openxmlformats.org/officeDocument/2006/relationships/notesMaster" Target="/ppt/notesMasters/notesMaster1.xml" Id="Rdc055a7528aa4e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4dbb8a484f43f7" /><Relationship Type="http://schemas.openxmlformats.org/officeDocument/2006/relationships/notesMaster" Target="/ppt/notesMasters/notesMaster1.xml" Id="R1be689ac9dad45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5b0b31d37b4803" /><Relationship Type="http://schemas.openxmlformats.org/officeDocument/2006/relationships/notesMaster" Target="/ppt/notesMasters/notesMaster1.xml" Id="Rb580a88684774d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948cf023424da3" /><Relationship Type="http://schemas.openxmlformats.org/officeDocument/2006/relationships/notesMaster" Target="/ppt/notesMasters/notesMaster1.xml" Id="R08f64675f31348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e34ebdb4ae4859" /><Relationship Type="http://schemas.openxmlformats.org/officeDocument/2006/relationships/notesMaster" Target="/ppt/notesMasters/notesMaster1.xml" Id="R998a92dabe6045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MOF는 학생의 공부와 학교생활 정보를 한 앱에 모아 관리하는 Android 개인 프로젝트입니다. 이번 보고에서는 1~6단계 구현 내용, 실제 검증 기록, 프로그램 구조와 실행 흐름을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C:\Users\Dsword\AndroidStudioProjects\MOF\app\src\main\java\com\example\mof\app\MofApp.kt</a:t>
            </a:r>
          </a:p>
          <a:p xmlns:a="http://schemas.openxmlformats.org/drawingml/2006/main">
            <a:r>
              <a:t>C:\Users\Dsword\AndroidStudioProjects\MOF\app\src\main\java\com\example\mof\data\local\database\MofDatabase.kt</a:t>
            </a:r>
          </a:p>
          <a:p xmlns:a="http://schemas.openxmlformats.org/drawingml/2006/main">
            <a:r>
              <a:t>C:\Users\Dsword\AndroidStudioProjects\MOF\app\build.gradle.kts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공개 저장소 https://github.com/Jisong2/Creative-Engineering-Design 의 실제 페이지를 2026-10-09 Asia/Seoul에 캡처했습니다. Repository 이름, main 브랜치, 파일 목록, 최근 커밋 ab79c71, 커밋 13개가 실제 화면에 표시됩니다. GitHub API로 확인한 최근 커밋 시각은 2026-09-28 13:35:02 KST이며 메시지는 Add files via upload입니다. 저장소에는 진행 기록 PPTX, README.md, Readme.txt, 주차별 기록이 있습니다. README에는 이전 이름 StudyMate와 초기 계획이 남아 있어 MOF 현재 구현 내용으로 갱신이 필요합니다. 앱 소스가 업로드되었다고 주장하지 않습니다. 현재 로컬 프로젝트에는 .git이 없으며 원격에 파일을 게시하거나 내용을 수정하지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C:\Users\Dsword\AndroidStudioProjects\MOF\app\src\main\java\com\example\mof\app\navigation\MofDestination.kt</a:t>
            </a:r>
          </a:p>
          <a:p xmlns:a="http://schemas.openxmlformats.org/drawingml/2006/main">
            <a:r>
              <a:t>C:\Users\Dsword\AndroidStudioProjects\MOF\app\src\main\java\com\example\mof\feature\study\StudyViewModel.kt</a:t>
            </a:r>
          </a:p>
          <a:p xmlns:a="http://schemas.openxmlformats.org/drawingml/2006/main">
            <a:r>
              <a:t>C:\Users\Dsword\AndroidStudioProjects\MOF\app\src\main\java\com\example\mof\notification\AssignmentReminderScheduler.kt</a:t>
            </a:r>
          </a:p>
          <a:p xmlns:a="http://schemas.openxmlformats.org/drawingml/2006/main">
            <a:r>
              <a:t>C:\Users\Dsword\AndroidStudioProjects\MOF\app\src\main\java\com\example\mof\data\local\database\MofDatabase.kt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C:\Users\Dsword\AndroidStudioProjects\MOF\app\build\stage4-verification-2026-10-09\grid-light.png</a:t>
            </a:r>
          </a:p>
          <a:p xmlns:a="http://schemas.openxmlformats.org/drawingml/2006/main">
            <a:r>
              <a:t>C:\Users\Dsword\AndroidStudioProjects\MOF\app\build\stage5-verification-2026-10-09\commute-final.png</a:t>
            </a:r>
          </a:p>
          <a:p xmlns:a="http://schemas.openxmlformats.org/drawingml/2006/main">
            <a:r>
              <a:t>C:\Users\Dsword\AndroidStudioProjects\MOF\app\build\stage6-verification-2026-10-09\chat-dark.png</a:t>
            </a:r>
          </a:p>
          <a:p xmlns:a="http://schemas.openxmlformats.org/drawingml/2006/main">
            <a:r>
              <a:t>C:\Users\Dsword\AndroidStudioProjects\MOF\app\src\main\java\com\example\mof\data\repository\CommuteRepository.kt</a:t>
            </a:r>
          </a:p>
          <a:p xmlns:a="http://schemas.openxmlformats.org/drawingml/2006/main">
            <a:r>
              <a:t>C:\Users\Dsword\AndroidStudioProjects\MOF\app\src\main\java\com\example\mof\feature\chat\MofAssistantEngine.kt</a:t>
            </a:r>
          </a:p>
          <a:p xmlns:a="http://schemas.openxmlformats.org/drawingml/2006/main">
            <a:r>
              <a:t>캡처는 프로젝트 안에 보관된 실제 실행 화면이며 시간표와 챗봇에는 검증용 데이터가 표시됩니다. 통학 캡처는 목적지를 아직 등록하지 않은 화면입니다. 5단계의 여러 목적지 저장 기능은 동시에 한 목적지만 활성화합니다.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C:\Users\Dsword\AndroidStudioProjects\MOF\app\src\main\java\com\example\mof\data\repository\MofAssistantRepository.kt</a:t>
            </a:r>
          </a:p>
          <a:p xmlns:a="http://schemas.openxmlformats.org/drawingml/2006/main">
            <a:r>
              <a:t>C:\Users\Dsword\AndroidStudioProjects\MOF\app\src\main\java\com\example\mof\data\local\database\MofDatabase.kt</a:t>
            </a:r>
          </a:p>
          <a:p xmlns:a="http://schemas.openxmlformats.org/drawingml/2006/main">
            <a:r>
              <a:t>C:\Users\Dsword\AndroidStudioProjects\MOF\app\src\main\java\com\example\mof\feature\home\HomeScreen.kt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C:\Users\Dsword\AndroidStudioProjects\MOF\app\src\main\java\com\example\mof\app\MofApp.kt</a:t>
            </a:r>
          </a:p>
          <a:p xmlns:a="http://schemas.openxmlformats.org/drawingml/2006/main">
            <a:r>
              <a:t>C:\Users\Dsword\AndroidStudioProjects\MOF\app\src\main\java\com\example\mof\data\repository\MofAssistantRepository.kt</a:t>
            </a:r>
          </a:p>
          <a:p xmlns:a="http://schemas.openxmlformats.org/drawingml/2006/main">
            <a:r>
              <a:t>C:\Users\Dsword\AndroidStudioProjects\MOF\app\src\main\java\com\example\mof\feature\chat\ChatViewModel.kt</a:t>
            </a:r>
          </a:p>
          <a:p xmlns:a="http://schemas.openxmlformats.org/drawingml/2006/main">
            <a:r>
              <a:t>C:\Users\Dsword\AndroidStudioProjects\MOF\app\src\main\java\com\example\mof\data\local\database\MofDatabase.kt</a:t>
            </a:r>
          </a:p>
          <a:p xmlns:a="http://schemas.openxmlformats.org/drawingml/2006/main">
            <a:r>
              <a:t>C:\Users\Dsword\AndroidStudioProjects\MOF\app\src\main\java\com\example\mof\notification\AssignmentReminderScheduler.kt</a:t>
            </a:r>
          </a:p>
          <a:p xmlns:a="http://schemas.openxmlformats.org/drawingml/2006/main">
            <a:r>
              <a:t>C:\Users\Dsword\AndroidStudioProjects\MOF\app\src\main\java\com\example\mof\location\CommuteGeofenceManager.kt</a:t>
            </a:r>
          </a:p>
          <a:p xmlns:a="http://schemas.openxmlformats.org/drawingml/2006/main">
            <a:r>
              <a:t>실제 패키지는 app/navigation, feature/study·assignment·timetable·commute·chat·home, data/repository, data/local/dao·entity·database, notification, location, ui/theme입니다. ViewModel의 실제 이름은 StudyViewModel, AssignmentViewModel, TimetableViewModel, CommuteViewModel, ChatViewModel입니다. 챗봇 Repository는 DAO를 통해 기존 네 테이블을 읽습니다. 과제 Repository는 알림 예약을 연결하고 통학 Repository는 Geofence 관리기를 연결합니다. 네 Entity는 Room의 독립된 테이블입니다.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C:\Users\Dsword\AndroidStudioProjects\MOF\app\src\main\java\com\example\mof\MainActivity.kt</a:t>
            </a:r>
          </a:p>
          <a:p xmlns:a="http://schemas.openxmlformats.org/drawingml/2006/main">
            <a:r>
              <a:t>C:\Users\Dsword\AndroidStudioProjects\MOF\app\src\main\java\com\example\mof\app\MofApp.kt</a:t>
            </a:r>
          </a:p>
          <a:p xmlns:a="http://schemas.openxmlformats.org/drawingml/2006/main">
            <a:r>
              <a:t>C:\Users\Dsword\AndroidStudioProjects\MOF\app\src\main\java\com\example\mof\data\repository\AssignmentRepository.kt</a:t>
            </a:r>
          </a:p>
          <a:p xmlns:a="http://schemas.openxmlformats.org/drawingml/2006/main">
            <a:r>
              <a:t>C:\Users\Dsword\AndroidStudioProjects\MOF\app\src\main\java\com\example\mof\data\repository\CommuteRepository.kt</a:t>
            </a:r>
          </a:p>
          <a:p xmlns:a="http://schemas.openxmlformats.org/drawingml/2006/main">
            <a:r>
              <a:t>C:\Users\Dsword\AndroidStudioProjects\MOF\app\src\main\java\com\example\mof\feature\chat\ChatViewModel.kt</a:t>
            </a:r>
          </a:p>
          <a:p xmlns:a="http://schemas.openxmlformats.org/drawingml/2006/main">
            <a:r>
              <a:t>C:\Users\Dsword\AndroidStudioProjects\MOF\app\src\main\java\com\example\mof\feature\chat\MofAssistantEngine.kt</a:t>
            </a:r>
          </a:p>
          <a:p xmlns:a="http://schemas.openxmlformats.org/drawingml/2006/main">
            <a:r>
              <a:t>홈 하단 메뉴에서 공부·과제·시간표·통학을 선택하며 챗봇은 홈의 MOF에게 물어보기 버튼으로 진입합니다. 시간표 저장 전 시간 중복을 검사합니다. 통학 시작 전 위치·항상 허용·알림 권한과 위치 설정을 확인합니다. 챗봇은 입력 정규화와 의도 판단 후 Repository를 통해 Room을 조회하고 답변을 표시합니다. 인사와 지원하지 않는 질문은 DB 조회 없이 처리합니다.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C:\Users\Dsword\AndroidStudioProjects\MOF\app\build\stage6-verification-2026-10-09\verification-summary.md</a:t>
            </a:r>
          </a:p>
          <a:p xmlns:a="http://schemas.openxmlformats.org/drawingml/2006/main">
            <a:r>
              <a:t>C:\Users\Dsword\AndroidStudioProjects\MOF\app\build\stage6-verification-2026-10-09\final-build.txt</a:t>
            </a:r>
          </a:p>
          <a:p xmlns:a="http://schemas.openxmlformats.org/drawingml/2006/main">
            <a:r>
              <a:t>C:\Users\Dsword\AndroidStudioProjects\MOF\app\build\stage6-verification-2026-10-09\chat-final-tests.txt</a:t>
            </a:r>
          </a:p>
          <a:p xmlns:a="http://schemas.openxmlformats.org/drawingml/2006/main">
            <a:r>
              <a:t>C:\Users\Dsword\AndroidStudioProjects\MOF\app\src\androidTest\java\com\example\mof\CommuteGpsTest.kt</a:t>
            </a:r>
          </a:p>
          <a:p xmlns:a="http://schemas.openxmlformats.org/drawingml/2006/main">
            <a:r>
              <a:t>빌드는 :app:assembleDebug입니다. 단위 테스트는 기존 2개와 엔진 8개입니다. Android는 기존 16개와 새 Room 2개, 챗봇 UI 2개로 고유 항목 20개이며 실패한 화면 테스트를 보완해 재검증했습니다. Lint 오류는 0개이고 경고 24개와 Hint 1개가 있습니다. 검증용 앱 ID를 분리했습니다. 5단계 Geofence 모의 GPS 성공과 6단계의 관련 회귀 검증을 구분하며 이번 PPT 작성에서는 테스트를 새로 실행하지 않았습니다.</a:t>
            </a:r>
          </a:p>
          <a:p xmlns:a="http://schemas.openxmlformats.org/drawingml/2006/main">
            <a:r>
              <a:t>5단계 모의 GPS 성공 기록의 근거는 사용자가 제공한 1~6단계 진행 내용입니다. 제공 자료: C:/Users/Dsword/.codex/attachments/818bcb42-95ca-49b0-b546-96a12c653fad/붙여넣은 텍스트.txt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결과는 실제 1~6단계 구현을 기준으로 합니다. 향후 계획은 검토 및 예정 항목이며 구현 완료 기능이 아닙니다. 실제 AI 연동, 시간표 이미지 인식, LMS 연동은 아직 구현하지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a80b6800e40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e405f496946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fd995473343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a770e65dc46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912c06db942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08761f9474c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6B4010-8FE5-4A4E-962C-DA8081FC4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2B6B19-EBC7-42D2-9E95-B57C0D9B85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DBF00F-8D8C-4991-855C-EDF6D6FB7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6B8A2A-7BBC-4F9F-BC3B-F078AD93AB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3919B2-D568-472E-BF8F-6DF142C972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E9C48C-E3C3-45DA-B168-9E02B0643F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929E39-BA24-48E3-9F3F-5E6583AD65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25F7A6-AB27-46C9-A024-700E97D223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DD6D7A-B1D8-40A1-B06F-6694D95370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BD8EE7-9D7C-41DC-A131-5FCC8A0C99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000583ecbe4356" /><Relationship Type="http://schemas.openxmlformats.org/officeDocument/2006/relationships/slideLayout" Target="/ppt/slideLayouts/slideLayout1.xml" Id="Re47b531bf8ab4f38" /><Relationship Type="http://schemas.openxmlformats.org/officeDocument/2006/relationships/slideLayout" Target="/ppt/slideLayouts/slideLayout2.xml" Id="Rea3120b8bf764f24" /><Relationship Type="http://schemas.openxmlformats.org/officeDocument/2006/relationships/slideLayout" Target="/ppt/slideLayouts/slideLayout3.xml" Id="R5be32ad38c144708" /><Relationship Type="http://schemas.openxmlformats.org/officeDocument/2006/relationships/slideLayout" Target="/ppt/slideLayouts/slideLayout4.xml" Id="R51ddc95aaba3400a" /><Relationship Type="http://schemas.openxmlformats.org/officeDocument/2006/relationships/slideLayout" Target="/ppt/slideLayouts/slideLayout5.xml" Id="R7936a5dd83fb40da" /><Relationship Type="http://schemas.openxmlformats.org/officeDocument/2006/relationships/slideLayout" Target="/ppt/slideLayouts/slideLayout6.xml" Id="Rfddd675b381445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7b531bf8ab4f38"/>
    <p:sldLayoutId xmlns:r="http://schemas.openxmlformats.org/officeDocument/2006/relationships" id="2147483650" r:id="Rea3120b8bf764f24"/>
    <p:sldLayoutId xmlns:r="http://schemas.openxmlformats.org/officeDocument/2006/relationships" id="2147483651" r:id="R5be32ad38c144708"/>
    <p:sldLayoutId xmlns:r="http://schemas.openxmlformats.org/officeDocument/2006/relationships" id="2147483652" r:id="R51ddc95aaba3400a"/>
    <p:sldLayoutId xmlns:r="http://schemas.openxmlformats.org/officeDocument/2006/relationships" id="2147483653" r:id="R7936a5dd83fb40da"/>
    <p:sldLayoutId xmlns:r="http://schemas.openxmlformats.org/officeDocument/2006/relationships" id="2147483654" r:id="Rfddd675b381445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221a8acbe4312" /><Relationship Type="http://schemas.openxmlformats.org/officeDocument/2006/relationships/notesSlide" Target="/ppt/notesSlides/notesSlide1.xml" Id="R28cd0f78439f44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72ae5802604e10" /><Relationship Type="http://schemas.openxmlformats.org/officeDocument/2006/relationships/notesSlide" Target="/ppt/notesSlides/notesSlide2.xml" Id="R0ef8f1edb94245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1954fb2304dd4" /><Relationship Type="http://schemas.openxmlformats.org/officeDocument/2006/relationships/image" Target="/ppt/media/image.png" Id="R4fcc1473fdd24715" /><Relationship Type="http://schemas.openxmlformats.org/officeDocument/2006/relationships/notesSlide" Target="/ppt/notesSlides/notesSlide3.xml" Id="Ra8870e694d5849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b43271764483e" /><Relationship Type="http://schemas.openxmlformats.org/officeDocument/2006/relationships/notesSlide" Target="/ppt/notesSlides/notesSlide4.xml" Id="Re88ff08099dc49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fbeac173164ca4" /><Relationship Type="http://schemas.openxmlformats.org/officeDocument/2006/relationships/image" Target="/ppt/media/image2.png" Id="Rbb2d42878ffd4c8d" /><Relationship Type="http://schemas.openxmlformats.org/officeDocument/2006/relationships/image" Target="/ppt/media/image3.png" Id="R5f5ba874f73042ab" /><Relationship Type="http://schemas.openxmlformats.org/officeDocument/2006/relationships/image" Target="/ppt/media/image4.png" Id="R9bbe71d1275a4f94" /><Relationship Type="http://schemas.openxmlformats.org/officeDocument/2006/relationships/notesSlide" Target="/ppt/notesSlides/notesSlide5.xml" Id="R268590f64f4448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2c029b46354751" /><Relationship Type="http://schemas.openxmlformats.org/officeDocument/2006/relationships/notesSlide" Target="/ppt/notesSlides/notesSlide6.xml" Id="Rb9d699dc6e8348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373f617a14776" /><Relationship Type="http://schemas.openxmlformats.org/officeDocument/2006/relationships/notesSlide" Target="/ppt/notesSlides/notesSlide7.xml" Id="Re82b597e4a3d4d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6c61aad2342ca" /><Relationship Type="http://schemas.openxmlformats.org/officeDocument/2006/relationships/notesSlide" Target="/ppt/notesSlides/notesSlide8.xml" Id="R48e2dae189db4a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82cb72042c426e" /><Relationship Type="http://schemas.openxmlformats.org/officeDocument/2006/relationships/notesSlide" Target="/ppt/notesSlides/notesSlide9.xml" Id="Ra78a30f92fac4a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eecd95294d4549" /><Relationship Type="http://schemas.openxmlformats.org/officeDocument/2006/relationships/notesSlide" Target="/ppt/notesSlides/notesSlide10.xml" Id="R396224ea0f6747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29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ummary-text-1">
            <a:extLst xmlns:a="http://schemas.openxmlformats.org/drawingml/2006/main">
              <a:ext uri="{FF2B5EF4-FFF2-40B4-BE49-F238E27FC236}">
                <a16:creationId xmlns:a16="http://schemas.microsoft.com/office/drawing/2014/main" id="{4FC2F942-F591-4A18-AAF7-BB93C8D9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9DCD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9DCD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A9DCD1"/>
                </a:solidFill>
                <a:latin typeface="Malgun Gothic"/>
                <a:ea typeface="Malgun Gothic"/>
                <a:cs typeface="Malgun Gothic"/>
              </a:rPr>
              <a:t>창의공학설계  5주차 진행 보고</a:t>
            </a:r>
          </a:p>
        </p:txBody>
      </p:sp>
      <p:sp>
        <p:nvSpPr>
          <p:cNvPr id="2" name="summary-text-2">
            <a:extLst xmlns:a="http://schemas.openxmlformats.org/drawingml/2006/main">
              <a:ext uri="{FF2B5EF4-FFF2-40B4-BE49-F238E27FC236}">
                <a16:creationId xmlns:a16="http://schemas.microsoft.com/office/drawing/2014/main" id="{1585AA74-93A5-4387-A43B-A53AB08E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9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MOF</a:t>
            </a:r>
          </a:p>
        </p:txBody>
      </p:sp>
      <p:sp>
        <p:nvSpPr>
          <p:cNvPr id="3" name="summary-text-3">
            <a:extLst xmlns:a="http://schemas.openxmlformats.org/drawingml/2006/main">
              <a:ext uri="{FF2B5EF4-FFF2-40B4-BE49-F238E27FC236}">
                <a16:creationId xmlns:a16="http://schemas.microsoft.com/office/drawing/2014/main" id="{21D64494-5FFB-48B7-83A4-02C86907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C9CCE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C9CCE9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C9CCE9"/>
                </a:solidFill>
                <a:latin typeface="Malgun Gothic"/>
                <a:ea typeface="Malgun Gothic"/>
                <a:cs typeface="Malgun Gothic"/>
              </a:rPr>
              <a:t>My Own Friend</a:t>
            </a:r>
          </a:p>
        </p:txBody>
      </p:sp>
      <p:sp>
        <p:nvSpPr>
          <p:cNvPr id="4" name="summary-text-4">
            <a:extLst xmlns:a="http://schemas.openxmlformats.org/drawingml/2006/main">
              <a:ext uri="{FF2B5EF4-FFF2-40B4-BE49-F238E27FC236}">
                <a16:creationId xmlns:a16="http://schemas.microsoft.com/office/drawing/2014/main" id="{DB284D89-4C61-4E06-A92C-13D2F58A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공부를 도와주는 나만의 친구</a:t>
            </a:r>
          </a:p>
        </p:txBody>
      </p:sp>
      <p:sp>
        <p:nvSpPr>
          <p:cNvPr id="5" name="summary-text-5">
            <a:extLst xmlns:a="http://schemas.openxmlformats.org/drawingml/2006/main">
              <a:ext uri="{FF2B5EF4-FFF2-40B4-BE49-F238E27FC236}">
                <a16:creationId xmlns:a16="http://schemas.microsoft.com/office/drawing/2014/main" id="{FC5DC4F4-D9CC-477B-ABE2-FBDF4A7A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0725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C9CCE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C9CCE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C9CCE9"/>
                </a:solidFill>
                <a:latin typeface="Malgun Gothic"/>
                <a:ea typeface="Malgun Gothic"/>
                <a:cs typeface="Malgun Gothic"/>
              </a:rPr>
              <a:t>223911  박지성</a:t>
            </a:r>
          </a:p>
        </p:txBody>
      </p:sp>
    </p:spTree>
    <p:extLst>
      <p:ext uri="{BB962C8B-B14F-4D97-AF65-F5344CB8AC3E}">
        <p14:creationId xmlns:p14="http://schemas.microsoft.com/office/powerpoint/2010/main" val="2086900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ummary-text-6">
            <a:extLst xmlns:a="http://schemas.openxmlformats.org/drawingml/2006/main">
              <a:ext uri="{FF2B5EF4-FFF2-40B4-BE49-F238E27FC236}">
                <a16:creationId xmlns:a16="http://schemas.microsoft.com/office/drawing/2014/main" id="{DA95AB4A-3692-4380-B133-F4BC9455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MOF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D2993-39DC-4D8E-B3F1-356D74B0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3" name="summary-text-7">
            <a:extLst xmlns:a="http://schemas.openxmlformats.org/drawingml/2006/main">
              <a:ext uri="{FF2B5EF4-FFF2-40B4-BE49-F238E27FC236}">
                <a16:creationId xmlns:a16="http://schemas.microsoft.com/office/drawing/2014/main" id="{5BC752BF-865D-47DD-88AE-4683DB75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MOF  5주차 진행 보고</a:t>
            </a:r>
          </a:p>
        </p:txBody>
      </p:sp>
      <p:sp>
        <p:nvSpPr>
          <p:cNvPr id="4" name="summary-text-8">
            <a:extLst xmlns:a="http://schemas.openxmlformats.org/drawingml/2006/main">
              <a:ext uri="{FF2B5EF4-FFF2-40B4-BE49-F238E27FC236}">
                <a16:creationId xmlns:a16="http://schemas.microsoft.com/office/drawing/2014/main" id="{E32F278C-A255-4DD1-A070-80C75A0D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24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summary-text-9">
            <a:extLst xmlns:a="http://schemas.openxmlformats.org/drawingml/2006/main">
              <a:ext uri="{FF2B5EF4-FFF2-40B4-BE49-F238E27FC236}">
                <a16:creationId xmlns:a16="http://schemas.microsoft.com/office/drawing/2014/main" id="{229F51D3-6EC9-43AB-A0F5-61188266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09612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공부와 대학생활 정보를</a:t>
            </a:r>
          </a:p>
          <a:p xmlns:a="http://schemas.openxmlformats.org/drawingml/2006/main">
            <a:pPr algn="l">
              <a:defRPr sz="36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한 앱에서 관리합니다.</a:t>
            </a:r>
          </a:p>
        </p:txBody>
      </p:sp>
      <p:sp>
        <p:nvSpPr>
          <p:cNvPr id="6" name="summary-text-10">
            <a:extLst xmlns:a="http://schemas.openxmlformats.org/drawingml/2006/main">
              <a:ext uri="{FF2B5EF4-FFF2-40B4-BE49-F238E27FC236}">
                <a16:creationId xmlns:a16="http://schemas.microsoft.com/office/drawing/2014/main" id="{4A9000C5-29C3-43D9-A971-E9E35A21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676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대학생을 위한 개인 학습 관리 Android 앱</a:t>
            </a:r>
          </a:p>
        </p:txBody>
      </p:sp>
      <p:sp>
        <p:nvSpPr>
          <p:cNvPr id="7" name="summary-text-11">
            <a:extLst xmlns:a="http://schemas.openxmlformats.org/drawingml/2006/main">
              <a:ext uri="{FF2B5EF4-FFF2-40B4-BE49-F238E27FC236}">
                <a16:creationId xmlns:a16="http://schemas.microsoft.com/office/drawing/2014/main" id="{9E35CCE4-DF4A-4E24-BB58-725545EF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19250"/>
            <a:ext cx="3381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공부 메모</a:t>
            </a:r>
          </a:p>
        </p:txBody>
      </p:sp>
      <p:sp>
        <p:nvSpPr>
          <p:cNvPr id="8" name="summary-text-12">
            <a:extLst xmlns:a="http://schemas.openxmlformats.org/drawingml/2006/main">
              <a:ext uri="{FF2B5EF4-FFF2-40B4-BE49-F238E27FC236}">
                <a16:creationId xmlns:a16="http://schemas.microsoft.com/office/drawing/2014/main" id="{EF7DCC70-19A7-4152-9D76-5DCFB9BC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7167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배울 내용 저장</a:t>
            </a:r>
          </a:p>
        </p:txBody>
      </p:sp>
      <p:sp>
        <p:nvSpPr>
          <p:cNvPr id="9" name="summary-text-13">
            <a:extLst xmlns:a="http://schemas.openxmlformats.org/drawingml/2006/main">
              <a:ext uri="{FF2B5EF4-FFF2-40B4-BE49-F238E27FC236}">
                <a16:creationId xmlns:a16="http://schemas.microsoft.com/office/drawing/2014/main" id="{543F8A5F-1782-4D89-80A3-EE8DF54E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52675"/>
            <a:ext cx="3381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과제</a:t>
            </a:r>
          </a:p>
        </p:txBody>
      </p:sp>
      <p:sp>
        <p:nvSpPr>
          <p:cNvPr id="10" name="summary-text-14">
            <a:extLst xmlns:a="http://schemas.openxmlformats.org/drawingml/2006/main">
              <a:ext uri="{FF2B5EF4-FFF2-40B4-BE49-F238E27FC236}">
                <a16:creationId xmlns:a16="http://schemas.microsoft.com/office/drawing/2014/main" id="{4F650170-9AEE-4126-8DB0-88D88FA2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051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마감일과 알림</a:t>
            </a:r>
          </a:p>
        </p:txBody>
      </p:sp>
      <p:sp>
        <p:nvSpPr>
          <p:cNvPr id="11" name="summary-text-15">
            <a:extLst xmlns:a="http://schemas.openxmlformats.org/drawingml/2006/main">
              <a:ext uri="{FF2B5EF4-FFF2-40B4-BE49-F238E27FC236}">
                <a16:creationId xmlns:a16="http://schemas.microsoft.com/office/drawing/2014/main" id="{7437AFB0-196A-4D82-889D-BD94D330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86100"/>
            <a:ext cx="3381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시간표</a:t>
            </a:r>
          </a:p>
        </p:txBody>
      </p:sp>
      <p:sp>
        <p:nvSpPr>
          <p:cNvPr id="12" name="summary-text-16">
            <a:extLst xmlns:a="http://schemas.openxmlformats.org/drawingml/2006/main">
              <a:ext uri="{FF2B5EF4-FFF2-40B4-BE49-F238E27FC236}">
                <a16:creationId xmlns:a16="http://schemas.microsoft.com/office/drawing/2014/main" id="{C78B700E-A8DE-4143-88F2-B552A7E7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385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요일별 수업 확인</a:t>
            </a:r>
          </a:p>
        </p:txBody>
      </p:sp>
      <p:sp>
        <p:nvSpPr>
          <p:cNvPr id="13" name="summary-text-17">
            <a:extLst xmlns:a="http://schemas.openxmlformats.org/drawingml/2006/main">
              <a:ext uri="{FF2B5EF4-FFF2-40B4-BE49-F238E27FC236}">
                <a16:creationId xmlns:a16="http://schemas.microsoft.com/office/drawing/2014/main" id="{07CE1418-45D0-4A79-AC92-8926D78C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9525"/>
            <a:ext cx="3381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통학</a:t>
            </a:r>
          </a:p>
        </p:txBody>
      </p:sp>
      <p:sp>
        <p:nvSpPr>
          <p:cNvPr id="14" name="summary-text-18">
            <a:extLst xmlns:a="http://schemas.openxmlformats.org/drawingml/2006/main">
              <a:ext uri="{FF2B5EF4-FFF2-40B4-BE49-F238E27FC236}">
                <a16:creationId xmlns:a16="http://schemas.microsoft.com/office/drawing/2014/main" id="{41243BDA-9236-4A1D-B8DB-0593C17A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719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목적지 도착 알림</a:t>
            </a:r>
          </a:p>
        </p:txBody>
      </p:sp>
      <p:sp>
        <p:nvSpPr>
          <p:cNvPr id="15" name="summary-text-19">
            <a:extLst xmlns:a="http://schemas.openxmlformats.org/drawingml/2006/main">
              <a:ext uri="{FF2B5EF4-FFF2-40B4-BE49-F238E27FC236}">
                <a16:creationId xmlns:a16="http://schemas.microsoft.com/office/drawing/2014/main" id="{D072B62D-DAA5-4277-905A-375DCEC1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381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챗봇</a:t>
            </a:r>
          </a:p>
        </p:txBody>
      </p:sp>
      <p:sp>
        <p:nvSpPr>
          <p:cNvPr id="16" name="summary-text-20">
            <a:extLst xmlns:a="http://schemas.openxmlformats.org/drawingml/2006/main">
              <a:ext uri="{FF2B5EF4-FFF2-40B4-BE49-F238E27FC236}">
                <a16:creationId xmlns:a16="http://schemas.microsoft.com/office/drawing/2014/main" id="{060254D1-182B-4485-B17E-811CB108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0537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저장 정보 질문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91471-DF78-4832-9467-0F4BEFD1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18" name="summary-text-21">
            <a:extLst xmlns:a="http://schemas.openxmlformats.org/drawingml/2006/main">
              <a:ext uri="{FF2B5EF4-FFF2-40B4-BE49-F238E27FC236}">
                <a16:creationId xmlns:a16="http://schemas.microsoft.com/office/drawing/2014/main" id="{82E2D652-5A49-4EF2-9DB3-114C1909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Android Studio, Kotlin, Jetpack Compose, Room</a:t>
            </a:r>
          </a:p>
        </p:txBody>
      </p:sp>
      <p:sp>
        <p:nvSpPr>
          <p:cNvPr id="19" name="summary-text-22">
            <a:extLst xmlns:a="http://schemas.openxmlformats.org/drawingml/2006/main">
              <a:ext uri="{FF2B5EF4-FFF2-40B4-BE49-F238E27FC236}">
                <a16:creationId xmlns:a16="http://schemas.microsoft.com/office/drawing/2014/main" id="{33131803-BF2B-466B-8DDA-5A1184A5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알림 예약: WorkManager    위치 감지: Google Location / Geofencing</a:t>
            </a:r>
          </a:p>
        </p:txBody>
      </p:sp>
    </p:spTree>
    <p:extLst>
      <p:ext uri="{BB962C8B-B14F-4D97-AF65-F5344CB8AC3E}">
        <p14:creationId xmlns:p14="http://schemas.microsoft.com/office/powerpoint/2010/main" val="1820111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6A3EB-4817-40E5-A190-35491D6562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c1473fdd24715"/>
          <a:stretch xmlns:a="http://schemas.openxmlformats.org/drawingml/2006/main"/>
        </p:blipFill>
        <p:spPr>
          <a:xfrm xmlns:a="http://schemas.openxmlformats.org/drawingml/2006/main">
            <a:off x="609600" y="1400175"/>
            <a:ext cx="10972800" cy="3543300"/>
          </a:xfrm>
          <a:prstGeom xmlns:a="http://schemas.openxmlformats.org/drawingml/2006/main" prst="rect">
            <a:avLst/>
          </a:prstGeom>
        </p:spPr>
      </p:pic>
      <p:sp>
        <p:nvSpPr>
          <p:cNvPr id="6" name="summary-text-23">
            <a:extLst xmlns:a="http://schemas.openxmlformats.org/drawingml/2006/main">
              <a:ext uri="{FF2B5EF4-FFF2-40B4-BE49-F238E27FC236}">
                <a16:creationId xmlns:a16="http://schemas.microsoft.com/office/drawing/2014/main" id="{B3449F1A-E16B-4580-92B2-5F17DD1B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GitHub 진행 기록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BA658-3030-4420-BD9E-79C6F847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8" name="summary-text-24">
            <a:extLst xmlns:a="http://schemas.openxmlformats.org/drawingml/2006/main">
              <a:ext uri="{FF2B5EF4-FFF2-40B4-BE49-F238E27FC236}">
                <a16:creationId xmlns:a16="http://schemas.microsoft.com/office/drawing/2014/main" id="{B8C9C4BE-B910-4528-9C27-D0B82E9F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MOF  5주차 진행 보고</a:t>
            </a:r>
          </a:p>
        </p:txBody>
      </p:sp>
      <p:sp>
        <p:nvSpPr>
          <p:cNvPr id="9" name="summary-text-25">
            <a:extLst xmlns:a="http://schemas.openxmlformats.org/drawingml/2006/main">
              <a:ext uri="{FF2B5EF4-FFF2-40B4-BE49-F238E27FC236}">
                <a16:creationId xmlns:a16="http://schemas.microsoft.com/office/drawing/2014/main" id="{17ED5F64-AEB3-46B8-B89A-7325167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24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summary-text-26">
            <a:extLst xmlns:a="http://schemas.openxmlformats.org/drawingml/2006/main">
              <a:ext uri="{FF2B5EF4-FFF2-40B4-BE49-F238E27FC236}">
                <a16:creationId xmlns:a16="http://schemas.microsoft.com/office/drawing/2014/main" id="{C4137DD1-AABD-4FFA-8CC6-F60E0612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진행 자료와 주차별 기록 업로드</a:t>
            </a:r>
          </a:p>
        </p:txBody>
      </p:sp>
      <p:sp>
        <p:nvSpPr>
          <p:cNvPr id="11" name="summary-text-27">
            <a:extLst xmlns:a="http://schemas.openxmlformats.org/drawingml/2006/main">
              <a:ext uri="{FF2B5EF4-FFF2-40B4-BE49-F238E27FC236}">
                <a16:creationId xmlns:a16="http://schemas.microsoft.com/office/drawing/2014/main" id="{8BE16677-FB5B-4197-AE10-03D16E76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53025"/>
            <a:ext cx="377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최근 업데이트  2026.09.28</a:t>
            </a:r>
          </a:p>
        </p:txBody>
      </p:sp>
      <p:sp>
        <p:nvSpPr>
          <p:cNvPr id="12" name="summary-text-28">
            <a:extLst xmlns:a="http://schemas.openxmlformats.org/drawingml/2006/main">
              <a:ext uri="{FF2B5EF4-FFF2-40B4-BE49-F238E27FC236}">
                <a16:creationId xmlns:a16="http://schemas.microsoft.com/office/drawing/2014/main" id="{FD1F9404-920C-463E-A695-08B98D56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main 브랜치  /  커밋 13개  /  ab79c71</a:t>
            </a:r>
          </a:p>
        </p:txBody>
      </p:sp>
      <p:sp>
        <p:nvSpPr>
          <p:cNvPr id="13" name="summary-text-29">
            <a:extLst xmlns:a="http://schemas.openxmlformats.org/drawingml/2006/main">
              <a:ext uri="{FF2B5EF4-FFF2-40B4-BE49-F238E27FC236}">
                <a16:creationId xmlns:a16="http://schemas.microsoft.com/office/drawing/2014/main" id="{7BBDBD0A-21E2-4844-9252-C6F1DD01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README의 옛 프로젝트명과 초기 진행 상태는 갱신 필요</a:t>
            </a:r>
          </a:p>
        </p:txBody>
      </p:sp>
    </p:spTree>
    <p:extLst>
      <p:ext uri="{BB962C8B-B14F-4D97-AF65-F5344CB8AC3E}">
        <p14:creationId xmlns:p14="http://schemas.microsoft.com/office/powerpoint/2010/main" val="959881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ummary-text-30">
            <a:extLst xmlns:a="http://schemas.openxmlformats.org/drawingml/2006/main">
              <a:ext uri="{FF2B5EF4-FFF2-40B4-BE49-F238E27FC236}">
                <a16:creationId xmlns:a16="http://schemas.microsoft.com/office/drawing/2014/main" id="{1681A3E9-605E-4155-95D3-51BAE3B6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1~3단계: 화면 이동과 기록 저장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A9DEE-FF7B-4D31-87B2-D52396BD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3" name="summary-text-31">
            <a:extLst xmlns:a="http://schemas.openxmlformats.org/drawingml/2006/main">
              <a:ext uri="{FF2B5EF4-FFF2-40B4-BE49-F238E27FC236}">
                <a16:creationId xmlns:a16="http://schemas.microsoft.com/office/drawing/2014/main" id="{40A8B67A-AD1B-431D-8178-F6FF713D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MOF  5주차 진행 보고</a:t>
            </a:r>
          </a:p>
        </p:txBody>
      </p:sp>
      <p:sp>
        <p:nvSpPr>
          <p:cNvPr id="4" name="summary-text-32">
            <a:extLst xmlns:a="http://schemas.openxmlformats.org/drawingml/2006/main">
              <a:ext uri="{FF2B5EF4-FFF2-40B4-BE49-F238E27FC236}">
                <a16:creationId xmlns:a16="http://schemas.microsoft.com/office/drawing/2014/main" id="{94A9063B-7B31-4BC0-8BA4-E4A58B9F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24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summary-text-33">
            <a:extLst xmlns:a="http://schemas.openxmlformats.org/drawingml/2006/main">
              <a:ext uri="{FF2B5EF4-FFF2-40B4-BE49-F238E27FC236}">
                <a16:creationId xmlns:a16="http://schemas.microsoft.com/office/drawing/2014/main" id="{669E2E9F-198A-48A4-81A5-AC817368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3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summary-text-34">
            <a:extLst xmlns:a="http://schemas.openxmlformats.org/drawingml/2006/main">
              <a:ext uri="{FF2B5EF4-FFF2-40B4-BE49-F238E27FC236}">
                <a16:creationId xmlns:a16="http://schemas.microsoft.com/office/drawing/2014/main" id="{291426B8-91B3-4D16-9790-8E91DB7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676400"/>
            <a:ext cx="9229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화면 이동</a:t>
            </a:r>
          </a:p>
        </p:txBody>
      </p:sp>
      <p:sp>
        <p:nvSpPr>
          <p:cNvPr id="7" name="summary-text-35">
            <a:extLst xmlns:a="http://schemas.openxmlformats.org/drawingml/2006/main">
              <a:ext uri="{FF2B5EF4-FFF2-40B4-BE49-F238E27FC236}">
                <a16:creationId xmlns:a16="http://schemas.microsoft.com/office/drawing/2014/main" id="{D42A85E7-F7FF-4680-8E1C-99141D66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219325"/>
            <a:ext cx="92297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홈과 4개 기능 화면을 하단 메뉴로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001E5-E98F-49CC-A2EA-50BDAB7A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95625"/>
            <a:ext cx="9229725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9" name="summary-text-36">
            <a:extLst xmlns:a="http://schemas.openxmlformats.org/drawingml/2006/main">
              <a:ext uri="{FF2B5EF4-FFF2-40B4-BE49-F238E27FC236}">
                <a16:creationId xmlns:a16="http://schemas.microsoft.com/office/drawing/2014/main" id="{20560F4C-68E5-4EA3-9DCE-A0C4020F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3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summary-text-37">
            <a:extLst xmlns:a="http://schemas.openxmlformats.org/drawingml/2006/main">
              <a:ext uri="{FF2B5EF4-FFF2-40B4-BE49-F238E27FC236}">
                <a16:creationId xmlns:a16="http://schemas.microsoft.com/office/drawing/2014/main" id="{28A95254-5081-4B3C-A5A1-3386CA27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248025"/>
            <a:ext cx="9229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공부 메모</a:t>
            </a:r>
          </a:p>
        </p:txBody>
      </p:sp>
      <p:sp>
        <p:nvSpPr>
          <p:cNvPr id="11" name="summary-text-38">
            <a:extLst xmlns:a="http://schemas.openxmlformats.org/drawingml/2006/main">
              <a:ext uri="{FF2B5EF4-FFF2-40B4-BE49-F238E27FC236}">
                <a16:creationId xmlns:a16="http://schemas.microsoft.com/office/drawing/2014/main" id="{622C8A45-753D-442A-B0CE-F59652BA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790950"/>
            <a:ext cx="92297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과목별로 저장하고 수정·삭제</a:t>
            </a:r>
          </a:p>
          <a:p xmlns:a="http://schemas.openxmlformats.org/drawingml/2006/main">
            <a:pPr algn="l">
              <a:def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앱을 다시 켜도 기록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F7C7A-42F5-4FA6-AEAC-0126F415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67250"/>
            <a:ext cx="9229725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13" name="summary-text-39">
            <a:extLst xmlns:a="http://schemas.openxmlformats.org/drawingml/2006/main">
              <a:ext uri="{FF2B5EF4-FFF2-40B4-BE49-F238E27FC236}">
                <a16:creationId xmlns:a16="http://schemas.microsoft.com/office/drawing/2014/main" id="{84EC9C22-647B-45F2-926C-5DB257CF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3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summary-text-40">
            <a:extLst xmlns:a="http://schemas.openxmlformats.org/drawingml/2006/main">
              <a:ext uri="{FF2B5EF4-FFF2-40B4-BE49-F238E27FC236}">
                <a16:creationId xmlns:a16="http://schemas.microsoft.com/office/drawing/2014/main" id="{66B95BDA-6C8E-42E9-905C-35A064D3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819650"/>
            <a:ext cx="9229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과제와 마감 알림</a:t>
            </a:r>
          </a:p>
        </p:txBody>
      </p:sp>
      <p:sp>
        <p:nvSpPr>
          <p:cNvPr id="15" name="summary-text-41">
            <a:extLst xmlns:a="http://schemas.openxmlformats.org/drawingml/2006/main">
              <a:ext uri="{FF2B5EF4-FFF2-40B4-BE49-F238E27FC236}">
                <a16:creationId xmlns:a16="http://schemas.microsoft.com/office/drawing/2014/main" id="{9856DF21-EE20-4710-8B23-42E7B61F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362575"/>
            <a:ext cx="92297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완료 상태와 남은 날짜 확인</a:t>
            </a:r>
          </a:p>
          <a:p xmlns:a="http://schemas.openxmlformats.org/drawingml/2006/main">
            <a:pPr algn="l">
              <a:def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마감 3일 전, 1일 전, 당일 알림</a:t>
            </a:r>
          </a:p>
        </p:txBody>
      </p:sp>
    </p:spTree>
    <p:extLst>
      <p:ext uri="{BB962C8B-B14F-4D97-AF65-F5344CB8AC3E}">
        <p14:creationId xmlns:p14="http://schemas.microsoft.com/office/powerpoint/2010/main" val="19801802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63052-3A08-49FF-AF81-75F9A74682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d42878ffd4c8d"/>
          <a:stretch xmlns:a="http://schemas.openxmlformats.org/drawingml/2006/main"/>
        </p:blipFill>
        <p:spPr>
          <a:xfrm xmlns:a="http://schemas.openxmlformats.org/drawingml/2006/main">
            <a:off x="1400175" y="2562225"/>
            <a:ext cx="1628775" cy="36195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39668-4699-4025-BF6F-E95A84A912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ba874f73042ab"/>
          <a:stretch xmlns:a="http://schemas.openxmlformats.org/drawingml/2006/main"/>
        </p:blipFill>
        <p:spPr>
          <a:xfrm xmlns:a="http://schemas.openxmlformats.org/drawingml/2006/main">
            <a:off x="5143500" y="2562225"/>
            <a:ext cx="1628775" cy="361950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D4A61-61A1-4712-A84B-76288F99FF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e71d1275a4f94"/>
          <a:stretch xmlns:a="http://schemas.openxmlformats.org/drawingml/2006/main"/>
        </p:blipFill>
        <p:spPr>
          <a:xfrm xmlns:a="http://schemas.openxmlformats.org/drawingml/2006/main">
            <a:off x="8886825" y="2562225"/>
            <a:ext cx="1628775" cy="3619500"/>
          </a:xfrm>
          <a:prstGeom xmlns:a="http://schemas.openxmlformats.org/drawingml/2006/main" prst="rect">
            <a:avLst/>
          </a:prstGeom>
        </p:spPr>
      </p:pic>
      <p:sp>
        <p:nvSpPr>
          <p:cNvPr id="14" name="summary-text-42">
            <a:extLst xmlns:a="http://schemas.openxmlformats.org/drawingml/2006/main">
              <a:ext uri="{FF2B5EF4-FFF2-40B4-BE49-F238E27FC236}">
                <a16:creationId xmlns:a16="http://schemas.microsoft.com/office/drawing/2014/main" id="{34B6892E-BE3B-46D5-B983-4847172B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4~6단계: 실제 앱 화면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C1B84-CEC1-4D22-BC04-0BA4965F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16" name="summary-text-43">
            <a:extLst xmlns:a="http://schemas.openxmlformats.org/drawingml/2006/main">
              <a:ext uri="{FF2B5EF4-FFF2-40B4-BE49-F238E27FC236}">
                <a16:creationId xmlns:a16="http://schemas.microsoft.com/office/drawing/2014/main" id="{1A1A9371-303B-41AE-8E08-4CE8E897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MOF  5주차 진행 보고</a:t>
            </a:r>
          </a:p>
        </p:txBody>
      </p:sp>
      <p:sp>
        <p:nvSpPr>
          <p:cNvPr id="17" name="summary-text-44">
            <a:extLst xmlns:a="http://schemas.openxmlformats.org/drawingml/2006/main">
              <a:ext uri="{FF2B5EF4-FFF2-40B4-BE49-F238E27FC236}">
                <a16:creationId xmlns:a16="http://schemas.microsoft.com/office/drawing/2014/main" id="{4B7078B9-64B5-4712-ACA1-E314F7FB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24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8" name="summary-text-45">
            <a:extLst xmlns:a="http://schemas.openxmlformats.org/drawingml/2006/main">
              <a:ext uri="{FF2B5EF4-FFF2-40B4-BE49-F238E27FC236}">
                <a16:creationId xmlns:a16="http://schemas.microsoft.com/office/drawing/2014/main" id="{B8BD267B-096C-480A-B415-AB9C3BF5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4단계  시간표</a:t>
            </a:r>
          </a:p>
        </p:txBody>
      </p:sp>
      <p:sp>
        <p:nvSpPr>
          <p:cNvPr id="19" name="summary-text-46">
            <a:extLst xmlns:a="http://schemas.openxmlformats.org/drawingml/2006/main">
              <a:ext uri="{FF2B5EF4-FFF2-40B4-BE49-F238E27FC236}">
                <a16:creationId xmlns:a16="http://schemas.microsoft.com/office/drawing/2014/main" id="{448E0A2F-1ED8-4316-995E-B6CE8F01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수업 시간 중복 방지</a:t>
            </a:r>
          </a:p>
        </p:txBody>
      </p:sp>
      <p:sp>
        <p:nvSpPr>
          <p:cNvPr id="20" name="summary-text-47">
            <a:extLst xmlns:a="http://schemas.openxmlformats.org/drawingml/2006/main">
              <a:ext uri="{FF2B5EF4-FFF2-40B4-BE49-F238E27FC236}">
                <a16:creationId xmlns:a16="http://schemas.microsoft.com/office/drawing/2014/main" id="{B140EB5B-2859-4330-86E8-20FCE8B7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457325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5단계  통학 알림</a:t>
            </a:r>
          </a:p>
        </p:txBody>
      </p:sp>
      <p:sp>
        <p:nvSpPr>
          <p:cNvPr id="21" name="summary-text-48">
            <a:extLst xmlns:a="http://schemas.openxmlformats.org/drawingml/2006/main">
              <a:ext uri="{FF2B5EF4-FFF2-40B4-BE49-F238E27FC236}">
                <a16:creationId xmlns:a16="http://schemas.microsoft.com/office/drawing/2014/main" id="{B017C629-315F-454E-B8E5-618D2CB6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0977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목적지 반경 진입 시 알림</a:t>
            </a:r>
          </a:p>
        </p:txBody>
      </p:sp>
      <p:sp>
        <p:nvSpPr>
          <p:cNvPr id="22" name="summary-text-49">
            <a:extLst xmlns:a="http://schemas.openxmlformats.org/drawingml/2006/main">
              <a:ext uri="{FF2B5EF4-FFF2-40B4-BE49-F238E27FC236}">
                <a16:creationId xmlns:a16="http://schemas.microsoft.com/office/drawing/2014/main" id="{B53DF454-A547-4E82-9803-EBDE7F36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57325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6단계  MOF 챗봇</a:t>
            </a:r>
          </a:p>
        </p:txBody>
      </p:sp>
      <p:sp>
        <p:nvSpPr>
          <p:cNvPr id="23" name="summary-text-50">
            <a:extLst xmlns:a="http://schemas.openxmlformats.org/drawingml/2006/main">
              <a:ext uri="{FF2B5EF4-FFF2-40B4-BE49-F238E27FC236}">
                <a16:creationId xmlns:a16="http://schemas.microsoft.com/office/drawing/2014/main" id="{84C80792-F106-45B1-8418-17FEA44D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977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외부 AI API 없이 정보 조회</a:t>
            </a:r>
          </a:p>
        </p:txBody>
      </p:sp>
      <p:sp>
        <p:nvSpPr>
          <p:cNvPr id="24" name="summary-text-51">
            <a:extLst xmlns:a="http://schemas.openxmlformats.org/drawingml/2006/main">
              <a:ext uri="{FF2B5EF4-FFF2-40B4-BE49-F238E27FC236}">
                <a16:creationId xmlns:a16="http://schemas.microsoft.com/office/drawing/2014/main" id="{9BD317BC-93EE-42BC-8584-8D3E8B9D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실제 검증 화면 사용. 통학 화면은 목적지 등록 전 상태.</a:t>
            </a:r>
          </a:p>
        </p:txBody>
      </p:sp>
    </p:spTree>
    <p:extLst>
      <p:ext uri="{BB962C8B-B14F-4D97-AF65-F5344CB8AC3E}">
        <p14:creationId xmlns:p14="http://schemas.microsoft.com/office/powerpoint/2010/main" val="16107044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70BD7-8C1A-438E-8EBD-1C8717BC9CD4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4257675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7C7B"/>
            </a:solidFill>
            <a:tailEnd type="triangle" w="sm" len="sm"/>
          </a:ln>
        </p:spPr>
      </p:cxnSp>
      <p:sp>
        <p:nvSpPr>
          <p:cNvPr id="19" name="summary-text-52">
            <a:extLst xmlns:a="http://schemas.openxmlformats.org/drawingml/2006/main">
              <a:ext uri="{FF2B5EF4-FFF2-40B4-BE49-F238E27FC236}">
                <a16:creationId xmlns:a16="http://schemas.microsoft.com/office/drawing/2014/main" id="{85B76AED-28DC-4115-BBBF-74D7CE14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저장한 정보를 챗봇에서 함께 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63BD8-B4BA-4E3B-A1C7-C803B4F6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3" name="summary-text-53">
            <a:extLst xmlns:a="http://schemas.openxmlformats.org/drawingml/2006/main">
              <a:ext uri="{FF2B5EF4-FFF2-40B4-BE49-F238E27FC236}">
                <a16:creationId xmlns:a16="http://schemas.microsoft.com/office/drawing/2014/main" id="{F2AFFC4D-0582-4930-A347-87580878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MOF  5주차 진행 보고</a:t>
            </a:r>
          </a:p>
        </p:txBody>
      </p:sp>
      <p:sp>
        <p:nvSpPr>
          <p:cNvPr id="4" name="summary-text-54">
            <a:extLst xmlns:a="http://schemas.openxmlformats.org/drawingml/2006/main">
              <a:ext uri="{FF2B5EF4-FFF2-40B4-BE49-F238E27FC236}">
                <a16:creationId xmlns:a16="http://schemas.microsoft.com/office/drawing/2014/main" id="{35678670-8FA5-488C-AFC1-579C6C46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24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summary-node-55">
            <a:extLst xmlns:a="http://schemas.openxmlformats.org/drawingml/2006/main">
              <a:ext uri="{FF2B5EF4-FFF2-40B4-BE49-F238E27FC236}">
                <a16:creationId xmlns:a16="http://schemas.microsoft.com/office/drawing/2014/main" id="{AEA99E87-B6CA-4348-98C4-8F420B13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543175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공부 메모</a:t>
            </a:r>
          </a:p>
        </p:txBody>
      </p:sp>
      <p:sp>
        <p:nvSpPr>
          <p:cNvPr id="6" name="summary-node-56">
            <a:extLst xmlns:a="http://schemas.openxmlformats.org/drawingml/2006/main">
              <a:ext uri="{FF2B5EF4-FFF2-40B4-BE49-F238E27FC236}">
                <a16:creationId xmlns:a16="http://schemas.microsoft.com/office/drawing/2014/main" id="{E7161F46-6114-4406-8431-612A66F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52600"/>
            <a:ext cx="2543175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과제</a:t>
            </a:r>
          </a:p>
        </p:txBody>
      </p:sp>
      <p:sp>
        <p:nvSpPr>
          <p:cNvPr id="7" name="summary-node-57">
            <a:extLst xmlns:a="http://schemas.openxmlformats.org/drawingml/2006/main">
              <a:ext uri="{FF2B5EF4-FFF2-40B4-BE49-F238E27FC236}">
                <a16:creationId xmlns:a16="http://schemas.microsoft.com/office/drawing/2014/main" id="{864782F7-B692-46E9-B871-0F7FF360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2543175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시간표</a:t>
            </a:r>
          </a:p>
        </p:txBody>
      </p:sp>
      <p:sp>
        <p:nvSpPr>
          <p:cNvPr id="8" name="summary-node-58">
            <a:extLst xmlns:a="http://schemas.openxmlformats.org/drawingml/2006/main">
              <a:ext uri="{FF2B5EF4-FFF2-40B4-BE49-F238E27FC236}">
                <a16:creationId xmlns:a16="http://schemas.microsoft.com/office/drawing/2014/main" id="{DA435D96-C50B-4946-B508-3A8C7170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752600"/>
            <a:ext cx="2543175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통학 목적지</a:t>
            </a:r>
          </a:p>
        </p:txBody>
      </p:sp>
      <p:sp>
        <p:nvSpPr>
          <p:cNvPr id="9" name="summary-node-59">
            <a:extLst xmlns:a="http://schemas.openxmlformats.org/drawingml/2006/main">
              <a:ext uri="{FF2B5EF4-FFF2-40B4-BE49-F238E27FC236}">
                <a16:creationId xmlns:a16="http://schemas.microsoft.com/office/drawing/2014/main" id="{9A95330B-FADE-43F0-8466-E5C63126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5715000" cy="885825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Room Database v4</a:t>
            </a:r>
          </a:p>
          <a:p xmlns:a="http://schemas.openxmlformats.org/drawingml/2006/main">
            <a:pPr algn="ctr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기기에 기록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0ABCE-DA91-46CE-B2BE-D816AC7D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2952750"/>
            <a:ext cx="8429625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565BA8"/>
            </a:solidFill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A0D64-B7C2-4A92-BB21-098C17D98369}"/>
              </a:ext>
            </a:extLst>
          </p:cNvPr>
          <p:cNvCxnSpPr/>
          <p:nvPr/>
        </p:nvCxnSpPr>
        <p:spPr>
          <a:xfrm xmlns:a="http://schemas.openxmlformats.org/drawingml/2006/main">
            <a:off x="1881188" y="25431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5BA8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1808D-2343-47E2-9B71-8DFBE8F1A752}"/>
              </a:ext>
            </a:extLst>
          </p:cNvPr>
          <p:cNvCxnSpPr/>
          <p:nvPr/>
        </p:nvCxnSpPr>
        <p:spPr>
          <a:xfrm xmlns:a="http://schemas.openxmlformats.org/drawingml/2006/main">
            <a:off x="4691063" y="25431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5BA8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2A77F-6571-410D-A484-193DCBC4AA1C}"/>
              </a:ext>
            </a:extLst>
          </p:cNvPr>
          <p:cNvCxnSpPr/>
          <p:nvPr/>
        </p:nvCxnSpPr>
        <p:spPr>
          <a:xfrm xmlns:a="http://schemas.openxmlformats.org/drawingml/2006/main">
            <a:off x="7500938" y="25431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5BA8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37DF6-EE6C-4170-8BA0-477D78B8F5C5}"/>
              </a:ext>
            </a:extLst>
          </p:cNvPr>
          <p:cNvCxnSpPr/>
          <p:nvPr/>
        </p:nvCxnSpPr>
        <p:spPr>
          <a:xfrm xmlns:a="http://schemas.openxmlformats.org/drawingml/2006/main">
            <a:off x="10310813" y="25431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5BA8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FAB8E-A1B4-4779-AD16-D729883C0AE1}"/>
              </a:ext>
            </a:extLst>
          </p:cNvPr>
          <p:cNvCxnSpPr/>
          <p:nvPr/>
        </p:nvCxnSpPr>
        <p:spPr>
          <a:xfrm xmlns:a="http://schemas.openxmlformats.org/drawingml/2006/main">
            <a:off x="6096000" y="29527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sp>
        <p:nvSpPr>
          <p:cNvPr id="16" name="summary-node-60">
            <a:extLst xmlns:a="http://schemas.openxmlformats.org/drawingml/2006/main">
              <a:ext uri="{FF2B5EF4-FFF2-40B4-BE49-F238E27FC236}">
                <a16:creationId xmlns:a16="http://schemas.microsoft.com/office/drawing/2014/main" id="{AA8695A8-793E-4EFE-AAAB-55C1E7ED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57775"/>
            <a:ext cx="571500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DF7F4"/>
          </a:solidFill>
          <a:ln xmlns:a="http://schemas.openxmlformats.org/drawingml/2006/main" w="13335">
            <a:solidFill>
              <a:srgbClr val="A7D3C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MOF 로컬 챗봇</a:t>
            </a:r>
          </a:p>
          <a:p xmlns:a="http://schemas.openxmlformats.org/drawingml/2006/main">
            <a:pPr algn="ctr">
              <a:defRPr sz="23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저장 정보를 읽고 답변</a:t>
            </a:r>
          </a:p>
        </p:txBody>
      </p:sp>
      <p:sp>
        <p:nvSpPr>
          <p:cNvPr id="18" name="summary-text-61">
            <a:extLst xmlns:a="http://schemas.openxmlformats.org/drawingml/2006/main">
              <a:ext uri="{FF2B5EF4-FFF2-40B4-BE49-F238E27FC236}">
                <a16:creationId xmlns:a16="http://schemas.microsoft.com/office/drawing/2014/main" id="{3F546ADE-26E9-426D-BA3E-A061D7BA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일정과 할 일을 저장된 기록에서 찾아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1188028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3EAF0F-0099-4F95-8F19-C0BDE4B04EEC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0372725" y="6196013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7C7B"/>
            </a:solidFill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AAC905-E27C-471B-908D-04BFADB64E77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848600" y="6196013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7C7B"/>
            </a:solidFill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4BA0B-C359-46A6-97D9-0039D0DE6612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029075" y="6196013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1D5C69-35E4-4741-9329-E297F440A9E3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504950" y="6196013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01A9D-BE0F-40F5-8A29-EF43FCBD3890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267825" y="485775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7C7B"/>
            </a:solidFill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1EC54-A30A-46F0-8F45-FD2B07814100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267825" y="40386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7C7B"/>
            </a:solidFill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ABA68-B2C1-4C5D-B4F0-B370460E369E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9267825" y="321945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7C7B"/>
            </a:solidFill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24F61-5748-49C2-8B9B-C47B5B49FBB6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9267825" y="24003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7C7B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92EDB-40E2-44F9-B34A-5920E5C4629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157538" y="485775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8F459-CEC3-421B-BB6B-AF872E3F89DB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57538" y="40386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D76E8-00BD-48A0-A476-FE0E4CEE42CD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157538" y="321945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E2A42-37A5-49A7-9A56-712D7EF3917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157538" y="24003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sp>
        <p:nvSpPr>
          <p:cNvPr id="35" name="summary-text-62">
            <a:extLst xmlns:a="http://schemas.openxmlformats.org/drawingml/2006/main">
              <a:ext uri="{FF2B5EF4-FFF2-40B4-BE49-F238E27FC236}">
                <a16:creationId xmlns:a16="http://schemas.microsoft.com/office/drawing/2014/main" id="{79EB587C-F8B7-407E-8C02-D5F46DE1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프로그램 구조도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7F336-7116-4152-83D5-315B4149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3" name="summary-text-63">
            <a:extLst xmlns:a="http://schemas.openxmlformats.org/drawingml/2006/main">
              <a:ext uri="{FF2B5EF4-FFF2-40B4-BE49-F238E27FC236}">
                <a16:creationId xmlns:a16="http://schemas.microsoft.com/office/drawing/2014/main" id="{7235B420-80B3-4ADC-9690-0856D737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MOF  5주차 진행 보고</a:t>
            </a:r>
          </a:p>
        </p:txBody>
      </p:sp>
      <p:sp>
        <p:nvSpPr>
          <p:cNvPr id="4" name="summary-text-64">
            <a:extLst xmlns:a="http://schemas.openxmlformats.org/drawingml/2006/main">
              <a:ext uri="{FF2B5EF4-FFF2-40B4-BE49-F238E27FC236}">
                <a16:creationId xmlns:a16="http://schemas.microsoft.com/office/drawing/2014/main" id="{3344C63D-C777-4B89-A0E7-903EC845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24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summary-text-65">
            <a:extLst xmlns:a="http://schemas.openxmlformats.org/drawingml/2006/main">
              <a:ext uri="{FF2B5EF4-FFF2-40B4-BE49-F238E27FC236}">
                <a16:creationId xmlns:a16="http://schemas.microsoft.com/office/drawing/2014/main" id="{E99FB136-DA52-4E77-8D21-49459BF5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공통 데이터 처리</a:t>
            </a:r>
          </a:p>
        </p:txBody>
      </p:sp>
      <p:sp>
        <p:nvSpPr>
          <p:cNvPr id="6" name="summary-text-66">
            <a:extLst xmlns:a="http://schemas.openxmlformats.org/drawingml/2006/main">
              <a:ext uri="{FF2B5EF4-FFF2-40B4-BE49-F238E27FC236}">
                <a16:creationId xmlns:a16="http://schemas.microsoft.com/office/drawing/2014/main" id="{11A134BE-70AA-4D54-B815-1BAD35BF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62075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47C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7C7B"/>
                </a:solidFill>
                <a:latin typeface="Malgun Gothic"/>
                <a:ea typeface="Malgun Gothic"/>
                <a:cs typeface="Malgun Gothic"/>
              </a:rPr>
              <a:t>챗봇 정보 조회</a:t>
            </a:r>
          </a:p>
        </p:txBody>
      </p:sp>
      <p:sp>
        <p:nvSpPr>
          <p:cNvPr id="7" name="summary-node-67">
            <a:extLst xmlns:a="http://schemas.openxmlformats.org/drawingml/2006/main">
              <a:ext uri="{FF2B5EF4-FFF2-40B4-BE49-F238E27FC236}">
                <a16:creationId xmlns:a16="http://schemas.microsoft.com/office/drawing/2014/main" id="{AA0EB3E1-537A-41F0-8B53-467F39A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509587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화면 UI</a:t>
            </a:r>
          </a:p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입력과 정보 표시</a:t>
            </a:r>
          </a:p>
        </p:txBody>
      </p:sp>
      <p:sp>
        <p:nvSpPr>
          <p:cNvPr id="8" name="summary-node-68">
            <a:extLst xmlns:a="http://schemas.openxmlformats.org/drawingml/2006/main">
              <a:ext uri="{FF2B5EF4-FFF2-40B4-BE49-F238E27FC236}">
                <a16:creationId xmlns:a16="http://schemas.microsoft.com/office/drawing/2014/main" id="{6A1004D9-E5CF-4A4C-A810-C53B8A70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09587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ViewModel</a:t>
            </a:r>
          </a:p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화면 상태 관리</a:t>
            </a:r>
          </a:p>
        </p:txBody>
      </p:sp>
      <p:sp>
        <p:nvSpPr>
          <p:cNvPr id="9" name="summary-node-69">
            <a:extLst xmlns:a="http://schemas.openxmlformats.org/drawingml/2006/main">
              <a:ext uri="{FF2B5EF4-FFF2-40B4-BE49-F238E27FC236}">
                <a16:creationId xmlns:a16="http://schemas.microsoft.com/office/drawing/2014/main" id="{03EA6E3A-1C85-458A-B825-14F82F86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509587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Repository</a:t>
            </a:r>
          </a:p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데이터 처리</a:t>
            </a:r>
          </a:p>
        </p:txBody>
      </p:sp>
      <p:sp>
        <p:nvSpPr>
          <p:cNvPr id="10" name="summary-node-70">
            <a:extLst xmlns:a="http://schemas.openxmlformats.org/drawingml/2006/main">
              <a:ext uri="{FF2B5EF4-FFF2-40B4-BE49-F238E27FC236}">
                <a16:creationId xmlns:a16="http://schemas.microsoft.com/office/drawing/2014/main" id="{8A196031-4783-476F-9A19-F2657E3C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509587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DAO</a:t>
            </a:r>
          </a:p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저장소 읽기·쓰기</a:t>
            </a:r>
          </a:p>
        </p:txBody>
      </p:sp>
      <p:sp>
        <p:nvSpPr>
          <p:cNvPr id="11" name="summary-node-71">
            <a:extLst xmlns:a="http://schemas.openxmlformats.org/drawingml/2006/main">
              <a:ext uri="{FF2B5EF4-FFF2-40B4-BE49-F238E27FC236}">
                <a16:creationId xmlns:a16="http://schemas.microsoft.com/office/drawing/2014/main" id="{79D38164-6D39-4027-9B62-6E810B92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509587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Room v4</a:t>
            </a:r>
          </a:p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메모·과제·수업·목적지 저장</a:t>
            </a:r>
          </a:p>
        </p:txBody>
      </p:sp>
      <p:sp>
        <p:nvSpPr>
          <p:cNvPr id="16" name="summary-node-72">
            <a:extLst xmlns:a="http://schemas.openxmlformats.org/drawingml/2006/main">
              <a:ext uri="{FF2B5EF4-FFF2-40B4-BE49-F238E27FC236}">
                <a16:creationId xmlns:a16="http://schemas.microsoft.com/office/drawing/2014/main" id="{D0E9C06B-2B20-49B1-9918-8E94303A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81175"/>
            <a:ext cx="462915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7F4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ChatScreen</a:t>
            </a:r>
          </a:p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질문 입력</a:t>
            </a:r>
          </a:p>
        </p:txBody>
      </p:sp>
      <p:sp>
        <p:nvSpPr>
          <p:cNvPr id="17" name="summary-node-73">
            <a:extLst xmlns:a="http://schemas.openxmlformats.org/drawingml/2006/main">
              <a:ext uri="{FF2B5EF4-FFF2-40B4-BE49-F238E27FC236}">
                <a16:creationId xmlns:a16="http://schemas.microsoft.com/office/drawing/2014/main" id="{EE6C0A20-B2AB-4F56-A610-159CC7ED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00325"/>
            <a:ext cx="462915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7F4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ChatViewModel</a:t>
            </a:r>
          </a:p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대화 상태 관리</a:t>
            </a:r>
          </a:p>
        </p:txBody>
      </p:sp>
      <p:sp>
        <p:nvSpPr>
          <p:cNvPr id="18" name="summary-node-74">
            <a:extLst xmlns:a="http://schemas.openxmlformats.org/drawingml/2006/main">
              <a:ext uri="{FF2B5EF4-FFF2-40B4-BE49-F238E27FC236}">
                <a16:creationId xmlns:a16="http://schemas.microsoft.com/office/drawing/2014/main" id="{2CAA41C3-649E-439E-812B-8883CA17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19475"/>
            <a:ext cx="462915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7F4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MofAssistantEngine</a:t>
            </a:r>
          </a:p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질문 의도 분석</a:t>
            </a:r>
          </a:p>
        </p:txBody>
      </p:sp>
      <p:sp>
        <p:nvSpPr>
          <p:cNvPr id="19" name="summary-node-75">
            <a:extLst xmlns:a="http://schemas.openxmlformats.org/drawingml/2006/main">
              <a:ext uri="{FF2B5EF4-FFF2-40B4-BE49-F238E27FC236}">
                <a16:creationId xmlns:a16="http://schemas.microsoft.com/office/drawing/2014/main" id="{8CEA14A8-68E6-475C-AE8B-CF5440C4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38625"/>
            <a:ext cx="462915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7F4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MofAssistantRepository</a:t>
            </a:r>
          </a:p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저장 정보 조회</a:t>
            </a:r>
          </a:p>
        </p:txBody>
      </p:sp>
      <p:sp>
        <p:nvSpPr>
          <p:cNvPr id="20" name="summary-node-76">
            <a:extLst xmlns:a="http://schemas.openxmlformats.org/drawingml/2006/main">
              <a:ext uri="{FF2B5EF4-FFF2-40B4-BE49-F238E27FC236}">
                <a16:creationId xmlns:a16="http://schemas.microsoft.com/office/drawing/2014/main" id="{3AD2C9CE-DF6F-4E77-B6B6-9BE54CE6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462915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7F4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Room Database v4</a:t>
            </a:r>
          </a:p>
          <a:p xmlns:a="http://schemas.openxmlformats.org/drawingml/2006/main">
            <a:pPr algn="ctr">
              <a:def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현재 데이터 읽기</a:t>
            </a:r>
          </a:p>
        </p:txBody>
      </p:sp>
      <p:sp>
        <p:nvSpPr>
          <p:cNvPr id="25" name="summary-node-77">
            <a:extLst xmlns:a="http://schemas.openxmlformats.org/drawingml/2006/main">
              <a:ext uri="{FF2B5EF4-FFF2-40B4-BE49-F238E27FC236}">
                <a16:creationId xmlns:a16="http://schemas.microsoft.com/office/drawing/2014/main" id="{C59A682F-0358-4C70-9910-214E685F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8953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과제</a:t>
            </a:r>
          </a:p>
        </p:txBody>
      </p:sp>
      <p:sp>
        <p:nvSpPr>
          <p:cNvPr id="26" name="summary-node-78">
            <a:extLst xmlns:a="http://schemas.openxmlformats.org/drawingml/2006/main">
              <a:ext uri="{FF2B5EF4-FFF2-40B4-BE49-F238E27FC236}">
                <a16:creationId xmlns:a16="http://schemas.microsoft.com/office/drawing/2014/main" id="{AACD4482-9B65-4445-929D-6937CD55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991225"/>
            <a:ext cx="21145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WorkManager</a:t>
            </a:r>
          </a:p>
        </p:txBody>
      </p:sp>
      <p:sp>
        <p:nvSpPr>
          <p:cNvPr id="27" name="summary-node-79">
            <a:extLst xmlns:a="http://schemas.openxmlformats.org/drawingml/2006/main">
              <a:ext uri="{FF2B5EF4-FFF2-40B4-BE49-F238E27FC236}">
                <a16:creationId xmlns:a16="http://schemas.microsoft.com/office/drawing/2014/main" id="{8E6E66C4-EB0C-4AFC-A06C-73A07B8C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91225"/>
            <a:ext cx="8953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알림</a:t>
            </a:r>
          </a:p>
        </p:txBody>
      </p:sp>
      <p:sp>
        <p:nvSpPr>
          <p:cNvPr id="30" name="summary-node-80">
            <a:extLst xmlns:a="http://schemas.openxmlformats.org/drawingml/2006/main">
              <a:ext uri="{FF2B5EF4-FFF2-40B4-BE49-F238E27FC236}">
                <a16:creationId xmlns:a16="http://schemas.microsoft.com/office/drawing/2014/main" id="{381BC06B-8305-4913-89A6-99854B48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91225"/>
            <a:ext cx="8953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통학</a:t>
            </a:r>
          </a:p>
        </p:txBody>
      </p:sp>
      <p:sp>
        <p:nvSpPr>
          <p:cNvPr id="31" name="summary-node-81">
            <a:extLst xmlns:a="http://schemas.openxmlformats.org/drawingml/2006/main">
              <a:ext uri="{FF2B5EF4-FFF2-40B4-BE49-F238E27FC236}">
                <a16:creationId xmlns:a16="http://schemas.microsoft.com/office/drawing/2014/main" id="{9D78BE35-954D-4EAF-9018-A1ADB8F3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991225"/>
            <a:ext cx="21145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Geofencing API</a:t>
            </a:r>
          </a:p>
        </p:txBody>
      </p:sp>
      <p:sp>
        <p:nvSpPr>
          <p:cNvPr id="32" name="summary-node-82">
            <a:extLst xmlns:a="http://schemas.openxmlformats.org/drawingml/2006/main">
              <a:ext uri="{FF2B5EF4-FFF2-40B4-BE49-F238E27FC236}">
                <a16:creationId xmlns:a16="http://schemas.microsoft.com/office/drawing/2014/main" id="{001D5EB1-E12B-47A2-B0FC-89DF7229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991225"/>
            <a:ext cx="8953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알림</a:t>
            </a:r>
          </a:p>
        </p:txBody>
      </p:sp>
    </p:spTree>
    <p:extLst>
      <p:ext uri="{BB962C8B-B14F-4D97-AF65-F5344CB8AC3E}">
        <p14:creationId xmlns:p14="http://schemas.microsoft.com/office/powerpoint/2010/main" val="1812015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0A9A0D-E93C-491E-8DD1-C1F2F06CDECE}"/>
              </a:ext>
            </a:extLst>
          </p:cNvPr>
          <p:cNvCxnSpPr>
            <a:stCxn xmlns:a="http://schemas.openxmlformats.org/drawingml/2006/main" id="50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10553700" y="54292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7C7B"/>
            </a:solidFill>
            <a:tail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6FF908-5A6C-4AED-B52E-9C3CB760B072}"/>
              </a:ext>
            </a:extLst>
          </p:cNvPr>
          <p:cNvCxnSpPr>
            <a:stCxn xmlns:a="http://schemas.openxmlformats.org/drawingml/2006/main" id="48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10553700" y="465772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7C7B"/>
            </a:solidFill>
            <a:tailEnd type="triangle" w="sm" len="sm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0A2E5A-79F7-4C2E-A915-0E8D905A3753}"/>
              </a:ext>
            </a:extLst>
          </p:cNvPr>
          <p:cNvCxnSpPr>
            <a:stCxn xmlns:a="http://schemas.openxmlformats.org/drawingml/2006/main" id="46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>
            <a:off x="10553700" y="38862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7C7B"/>
            </a:solidFill>
            <a:tailEnd type="triangle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D58B33-01F3-4866-8E1E-9A0B1FFF082D}"/>
              </a:ext>
            </a:extLst>
          </p:cNvPr>
          <p:cNvCxnSpPr>
            <a:stCxn xmlns:a="http://schemas.openxmlformats.org/drawingml/2006/main" id="44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10553700" y="29051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7C7B"/>
            </a:solidFill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24C8A7-81D4-42A5-93E3-A958BB968396}"/>
              </a:ext>
            </a:extLst>
          </p:cNvPr>
          <p:cNvCxnSpPr>
            <a:stCxn xmlns:a="http://schemas.openxmlformats.org/drawingml/2006/main" id="40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8324850" y="54292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F63CB1-AD1C-48C0-9E8E-91F21F60094A}"/>
              </a:ext>
            </a:extLst>
          </p:cNvPr>
          <p:cNvCxnSpPr>
            <a:stCxn xmlns:a="http://schemas.openxmlformats.org/drawingml/2006/main" id="38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8324850" y="465772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E9BB8F-C97B-4EE5-8C94-658421E65F86}"/>
              </a:ext>
            </a:extLst>
          </p:cNvPr>
          <p:cNvCxnSpPr>
            <a:stCxn xmlns:a="http://schemas.openxmlformats.org/drawingml/2006/main" id="36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8324850" y="38862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D4CFDB-E7F9-4EC4-80BE-1F2BA5671BEC}"/>
              </a:ext>
            </a:extLst>
          </p:cNvPr>
          <p:cNvCxnSpPr>
            <a:stCxn xmlns:a="http://schemas.openxmlformats.org/drawingml/2006/main" id="3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8324850" y="29051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C7272F-D876-46C5-A076-2694889E84C2}"/>
              </a:ext>
            </a:extLst>
          </p:cNvPr>
          <p:cNvCxnSpPr>
            <a:stCxn xmlns:a="http://schemas.openxmlformats.org/drawingml/2006/main" id="30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6096000" y="465772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BF8785-BB55-4F0B-80E6-4EEF9F917B80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6096000" y="38862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08CAF9-83FC-4624-8870-685B15B7A9A8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6096000" y="29051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4AE9A-D669-4DD8-B738-FCFA48869550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3867150" y="54292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49C9F-250C-4C8A-8C1D-010A90752DBE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3867150" y="465772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079F5-27B2-4B98-9012-84879F1F947C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867150" y="38862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B53A5-2E7E-4369-B8FC-37314DD2DA14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867150" y="29051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FE7D8-5DD1-41B0-A496-69FD83BE2981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638300" y="38862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C2E3B-48A7-4131-8E75-AA0A4AEC39F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638300" y="29051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FEAA8-9FC7-4032-8412-B81CFAFCE58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38800" y="16621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65BA8"/>
            </a:solidFill>
            <a:tailEnd type="triangle" w="sm" len="sm"/>
          </a:ln>
        </p:spPr>
      </p:cxnSp>
      <p:sp>
        <p:nvSpPr>
          <p:cNvPr id="54" name="summary-text-83">
            <a:extLst xmlns:a="http://schemas.openxmlformats.org/drawingml/2006/main">
              <a:ext uri="{FF2B5EF4-FFF2-40B4-BE49-F238E27FC236}">
                <a16:creationId xmlns:a16="http://schemas.microsoft.com/office/drawing/2014/main" id="{AF55BFA7-BB71-4DB6-AC2C-0D5B6F14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프로그램 실행 흐름도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7A3E7-E935-44EC-9934-8C55E9E4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3" name="summary-text-84">
            <a:extLst xmlns:a="http://schemas.openxmlformats.org/drawingml/2006/main">
              <a:ext uri="{FF2B5EF4-FFF2-40B4-BE49-F238E27FC236}">
                <a16:creationId xmlns:a16="http://schemas.microsoft.com/office/drawing/2014/main" id="{399BB4C0-FE0F-449E-BA43-89E9BFA2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MOF  5주차 진행 보고</a:t>
            </a:r>
          </a:p>
        </p:txBody>
      </p:sp>
      <p:sp>
        <p:nvSpPr>
          <p:cNvPr id="4" name="summary-text-85">
            <a:extLst xmlns:a="http://schemas.openxmlformats.org/drawingml/2006/main">
              <a:ext uri="{FF2B5EF4-FFF2-40B4-BE49-F238E27FC236}">
                <a16:creationId xmlns:a16="http://schemas.microsoft.com/office/drawing/2014/main" id="{231CCB51-5235-47DD-85E1-0EB41757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24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summary-node-86">
            <a:extLst xmlns:a="http://schemas.openxmlformats.org/drawingml/2006/main">
              <a:ext uri="{FF2B5EF4-FFF2-40B4-BE49-F238E27FC236}">
                <a16:creationId xmlns:a16="http://schemas.microsoft.com/office/drawing/2014/main" id="{D0965C00-7C8D-4188-BED8-4AE25FF5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19225"/>
            <a:ext cx="1885950" cy="485775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앱 실행</a:t>
            </a:r>
          </a:p>
        </p:txBody>
      </p:sp>
      <p:sp>
        <p:nvSpPr>
          <p:cNvPr id="6" name="summary-node-87">
            <a:extLst xmlns:a="http://schemas.openxmlformats.org/drawingml/2006/main">
              <a:ext uri="{FF2B5EF4-FFF2-40B4-BE49-F238E27FC236}">
                <a16:creationId xmlns:a16="http://schemas.microsoft.com/office/drawing/2014/main" id="{A47AE8F2-E323-4BD1-AC43-A24E7645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19225"/>
            <a:ext cx="2286000" cy="485775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홈 / 기능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8F201-E387-408C-9565-4652F36B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43125"/>
            <a:ext cx="89154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565BA8"/>
            </a:solidFill>
          </a:ln>
        </p:spPr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AB9C3-1F0A-4A7C-8512-B201B86FE5EC}"/>
              </a:ext>
            </a:extLst>
          </p:cNvPr>
          <p:cNvCxnSpPr/>
          <p:nvPr/>
        </p:nvCxnSpPr>
        <p:spPr>
          <a:xfrm xmlns:a="http://schemas.openxmlformats.org/drawingml/2006/main">
            <a:off x="7400925" y="190500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5BA8"/>
            </a:solidFill>
          </a:ln>
        </p:spPr>
      </p:cxnSp>
      <p:sp>
        <p:nvSpPr>
          <p:cNvPr id="10" name="summary-node-88">
            <a:extLst xmlns:a="http://schemas.openxmlformats.org/drawingml/2006/main">
              <a:ext uri="{FF2B5EF4-FFF2-40B4-BE49-F238E27FC236}">
                <a16:creationId xmlns:a16="http://schemas.microsoft.com/office/drawing/2014/main" id="{B8474C62-EF3E-4B37-8C06-C6FA5878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0574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공부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EDFE4-2DCB-484D-A4A5-E4FB27C03571}"/>
              </a:ext>
            </a:extLst>
          </p:cNvPr>
          <p:cNvCxnSpPr/>
          <p:nvPr/>
        </p:nvCxnSpPr>
        <p:spPr>
          <a:xfrm xmlns:a="http://schemas.openxmlformats.org/drawingml/2006/main">
            <a:off x="1638300" y="2143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5BA8"/>
            </a:solidFill>
            <a:tailEnd type="triangle" w="sm" len="sm"/>
          </a:ln>
        </p:spPr>
      </p:cxnSp>
      <p:sp>
        <p:nvSpPr>
          <p:cNvPr id="12" name="summary-node-89">
            <a:extLst xmlns:a="http://schemas.openxmlformats.org/drawingml/2006/main">
              <a:ext uri="{FF2B5EF4-FFF2-40B4-BE49-F238E27FC236}">
                <a16:creationId xmlns:a16="http://schemas.microsoft.com/office/drawing/2014/main" id="{FFC2B860-4A41-43D3-A666-4B6ACF2A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메모 작성·조회</a:t>
            </a:r>
          </a:p>
        </p:txBody>
      </p:sp>
      <p:sp>
        <p:nvSpPr>
          <p:cNvPr id="14" name="summary-node-90">
            <a:extLst xmlns:a="http://schemas.openxmlformats.org/drawingml/2006/main">
              <a:ext uri="{FF2B5EF4-FFF2-40B4-BE49-F238E27FC236}">
                <a16:creationId xmlns:a16="http://schemas.microsoft.com/office/drawing/2014/main" id="{406BD176-955E-41EE-9E7E-FCCB37FE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기기에 저장</a:t>
            </a:r>
          </a:p>
        </p:txBody>
      </p:sp>
      <p:sp>
        <p:nvSpPr>
          <p:cNvPr id="16" name="summary-node-91">
            <a:extLst xmlns:a="http://schemas.openxmlformats.org/drawingml/2006/main">
              <a:ext uri="{FF2B5EF4-FFF2-40B4-BE49-F238E27FC236}">
                <a16:creationId xmlns:a16="http://schemas.microsoft.com/office/drawing/2014/main" id="{BA9965FD-53D2-4653-B00C-B5D9874F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28875"/>
            <a:ext cx="20574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과제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ED865-71B0-4DB6-880E-40671F00EBF5}"/>
              </a:ext>
            </a:extLst>
          </p:cNvPr>
          <p:cNvCxnSpPr/>
          <p:nvPr/>
        </p:nvCxnSpPr>
        <p:spPr>
          <a:xfrm xmlns:a="http://schemas.openxmlformats.org/drawingml/2006/main">
            <a:off x="3867150" y="2143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5BA8"/>
            </a:solidFill>
            <a:tailEnd type="triangle" w="sm" len="sm"/>
          </a:ln>
        </p:spPr>
      </p:cxnSp>
      <p:sp>
        <p:nvSpPr>
          <p:cNvPr id="18" name="summary-node-92">
            <a:extLst xmlns:a="http://schemas.openxmlformats.org/drawingml/2006/main">
              <a:ext uri="{FF2B5EF4-FFF2-40B4-BE49-F238E27FC236}">
                <a16:creationId xmlns:a16="http://schemas.microsoft.com/office/drawing/2014/main" id="{46C4FBAB-7D45-4C2E-8956-DA1E4AB4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86125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과제 등록</a:t>
            </a:r>
          </a:p>
        </p:txBody>
      </p:sp>
      <p:sp>
        <p:nvSpPr>
          <p:cNvPr id="20" name="summary-node-93">
            <a:extLst xmlns:a="http://schemas.openxmlformats.org/drawingml/2006/main">
              <a:ext uri="{FF2B5EF4-FFF2-40B4-BE49-F238E27FC236}">
                <a16:creationId xmlns:a16="http://schemas.microsoft.com/office/drawing/2014/main" id="{604BD548-FCA6-4239-AC6F-912DE702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57650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기기에 저장</a:t>
            </a:r>
          </a:p>
        </p:txBody>
      </p:sp>
      <p:sp>
        <p:nvSpPr>
          <p:cNvPr id="22" name="summary-node-94">
            <a:extLst xmlns:a="http://schemas.openxmlformats.org/drawingml/2006/main">
              <a:ext uri="{FF2B5EF4-FFF2-40B4-BE49-F238E27FC236}">
                <a16:creationId xmlns:a16="http://schemas.microsoft.com/office/drawing/2014/main" id="{82D4352C-E8B4-49E5-B096-138B3037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29175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알림 예약</a:t>
            </a:r>
          </a:p>
        </p:txBody>
      </p:sp>
      <p:sp>
        <p:nvSpPr>
          <p:cNvPr id="24" name="summary-node-95">
            <a:extLst xmlns:a="http://schemas.openxmlformats.org/drawingml/2006/main">
              <a:ext uri="{FF2B5EF4-FFF2-40B4-BE49-F238E27FC236}">
                <a16:creationId xmlns:a16="http://schemas.microsoft.com/office/drawing/2014/main" id="{68884EC9-DAA9-44D8-A9FA-B4369582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00700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마감 알림</a:t>
            </a:r>
          </a:p>
        </p:txBody>
      </p:sp>
      <p:sp>
        <p:nvSpPr>
          <p:cNvPr id="26" name="summary-node-96">
            <a:extLst xmlns:a="http://schemas.openxmlformats.org/drawingml/2006/main">
              <a:ext uri="{FF2B5EF4-FFF2-40B4-BE49-F238E27FC236}">
                <a16:creationId xmlns:a16="http://schemas.microsoft.com/office/drawing/2014/main" id="{609D63C9-46A3-4FE9-9E45-F88D3863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28875"/>
            <a:ext cx="20574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시간표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D97054-71CA-4982-92D8-378FA51BE285}"/>
              </a:ext>
            </a:extLst>
          </p:cNvPr>
          <p:cNvCxnSpPr/>
          <p:nvPr/>
        </p:nvCxnSpPr>
        <p:spPr>
          <a:xfrm xmlns:a="http://schemas.openxmlformats.org/drawingml/2006/main">
            <a:off x="6096000" y="2143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5BA8"/>
            </a:solidFill>
            <a:tailEnd type="triangle" w="sm" len="sm"/>
          </a:ln>
        </p:spPr>
      </p:cxnSp>
      <p:sp>
        <p:nvSpPr>
          <p:cNvPr id="28" name="summary-node-97">
            <a:extLst xmlns:a="http://schemas.openxmlformats.org/drawingml/2006/main">
              <a:ext uri="{FF2B5EF4-FFF2-40B4-BE49-F238E27FC236}">
                <a16:creationId xmlns:a16="http://schemas.microsoft.com/office/drawing/2014/main" id="{BFB48032-6211-459F-A294-DDD2B14A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86125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시간 선택</a:t>
            </a:r>
          </a:p>
        </p:txBody>
      </p:sp>
      <p:sp>
        <p:nvSpPr>
          <p:cNvPr id="30" name="summary-node-98">
            <a:extLst xmlns:a="http://schemas.openxmlformats.org/drawingml/2006/main">
              <a:ext uri="{FF2B5EF4-FFF2-40B4-BE49-F238E27FC236}">
                <a16:creationId xmlns:a16="http://schemas.microsoft.com/office/drawing/2014/main" id="{BB781F70-0AE9-4D86-85CA-97D296E3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57650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수업 등록</a:t>
            </a:r>
          </a:p>
        </p:txBody>
      </p:sp>
      <p:sp>
        <p:nvSpPr>
          <p:cNvPr id="32" name="summary-node-99">
            <a:extLst xmlns:a="http://schemas.openxmlformats.org/drawingml/2006/main">
              <a:ext uri="{FF2B5EF4-FFF2-40B4-BE49-F238E27FC236}">
                <a16:creationId xmlns:a16="http://schemas.microsoft.com/office/drawing/2014/main" id="{9D8E6E2E-ADAF-42D8-ACD6-5F8A3BA1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29175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기기에 저장</a:t>
            </a:r>
          </a:p>
        </p:txBody>
      </p:sp>
      <p:sp>
        <p:nvSpPr>
          <p:cNvPr id="34" name="summary-node-100">
            <a:extLst xmlns:a="http://schemas.openxmlformats.org/drawingml/2006/main">
              <a:ext uri="{FF2B5EF4-FFF2-40B4-BE49-F238E27FC236}">
                <a16:creationId xmlns:a16="http://schemas.microsoft.com/office/drawing/2014/main" id="{D97F63B9-7F09-4264-850E-7530E62B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28875"/>
            <a:ext cx="20574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1FA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통학</a:t>
            </a:r>
          </a:p>
        </p:txBody>
      </p: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3E0D94-1039-43EA-AA95-92035F1C1F18}"/>
              </a:ext>
            </a:extLst>
          </p:cNvPr>
          <p:cNvCxnSpPr/>
          <p:nvPr/>
        </p:nvCxnSpPr>
        <p:spPr>
          <a:xfrm xmlns:a="http://schemas.openxmlformats.org/drawingml/2006/main">
            <a:off x="8324850" y="2143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5BA8"/>
            </a:solidFill>
            <a:tailEnd type="triangle" w="sm" len="sm"/>
          </a:ln>
        </p:spPr>
      </p:cxnSp>
      <p:sp>
        <p:nvSpPr>
          <p:cNvPr id="36" name="summary-node-101">
            <a:extLst xmlns:a="http://schemas.openxmlformats.org/drawingml/2006/main">
              <a:ext uri="{FF2B5EF4-FFF2-40B4-BE49-F238E27FC236}">
                <a16:creationId xmlns:a16="http://schemas.microsoft.com/office/drawing/2014/main" id="{2846B2BF-D344-4061-85E2-843FE67E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86125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목적지 등록</a:t>
            </a:r>
          </a:p>
        </p:txBody>
      </p:sp>
      <p:sp>
        <p:nvSpPr>
          <p:cNvPr id="38" name="summary-node-102">
            <a:extLst xmlns:a="http://schemas.openxmlformats.org/drawingml/2006/main">
              <a:ext uri="{FF2B5EF4-FFF2-40B4-BE49-F238E27FC236}">
                <a16:creationId xmlns:a16="http://schemas.microsoft.com/office/drawing/2014/main" id="{41E2FAB8-C3BE-4BED-BCB5-E49A3034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57650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알림 시작</a:t>
            </a:r>
          </a:p>
        </p:txBody>
      </p:sp>
      <p:sp>
        <p:nvSpPr>
          <p:cNvPr id="40" name="summary-node-103">
            <a:extLst xmlns:a="http://schemas.openxmlformats.org/drawingml/2006/main">
              <a:ext uri="{FF2B5EF4-FFF2-40B4-BE49-F238E27FC236}">
                <a16:creationId xmlns:a16="http://schemas.microsoft.com/office/drawing/2014/main" id="{80541542-321F-46D4-B6FD-961725A0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29175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반경 진입</a:t>
            </a:r>
          </a:p>
        </p:txBody>
      </p:sp>
      <p:sp>
        <p:nvSpPr>
          <p:cNvPr id="42" name="summary-node-104">
            <a:extLst xmlns:a="http://schemas.openxmlformats.org/drawingml/2006/main">
              <a:ext uri="{FF2B5EF4-FFF2-40B4-BE49-F238E27FC236}">
                <a16:creationId xmlns:a16="http://schemas.microsoft.com/office/drawing/2014/main" id="{4AF67AA2-CBF2-42AE-A3C0-3AC7E0B7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600700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도착 알림</a:t>
            </a:r>
          </a:p>
        </p:txBody>
      </p:sp>
      <p:sp>
        <p:nvSpPr>
          <p:cNvPr id="44" name="summary-node-105">
            <a:extLst xmlns:a="http://schemas.openxmlformats.org/drawingml/2006/main">
              <a:ext uri="{FF2B5EF4-FFF2-40B4-BE49-F238E27FC236}">
                <a16:creationId xmlns:a16="http://schemas.microsoft.com/office/drawing/2014/main" id="{DAC05238-6F68-47A5-B64A-55B7CB03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28875"/>
            <a:ext cx="20574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F7F4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MOF 챗봇</a:t>
            </a:r>
          </a:p>
        </p:txBody>
      </p: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21C170-DD68-49C4-A131-5E8212A1454B}"/>
              </a:ext>
            </a:extLst>
          </p:cNvPr>
          <p:cNvCxnSpPr/>
          <p:nvPr/>
        </p:nvCxnSpPr>
        <p:spPr>
          <a:xfrm xmlns:a="http://schemas.openxmlformats.org/drawingml/2006/main">
            <a:off x="10553700" y="2143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5BA8"/>
            </a:solidFill>
            <a:tailEnd type="triangle" w="sm" len="sm"/>
          </a:ln>
        </p:spPr>
      </p:cxnSp>
      <p:sp>
        <p:nvSpPr>
          <p:cNvPr id="46" name="summary-node-106">
            <a:extLst xmlns:a="http://schemas.openxmlformats.org/drawingml/2006/main">
              <a:ext uri="{FF2B5EF4-FFF2-40B4-BE49-F238E27FC236}">
                <a16:creationId xmlns:a16="http://schemas.microsoft.com/office/drawing/2014/main" id="{9379A528-3D07-44D9-8BDF-0B0C7C28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86125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질문 입력</a:t>
            </a:r>
          </a:p>
        </p:txBody>
      </p:sp>
      <p:sp>
        <p:nvSpPr>
          <p:cNvPr id="48" name="summary-node-107">
            <a:extLst xmlns:a="http://schemas.openxmlformats.org/drawingml/2006/main">
              <a:ext uri="{FF2B5EF4-FFF2-40B4-BE49-F238E27FC236}">
                <a16:creationId xmlns:a16="http://schemas.microsoft.com/office/drawing/2014/main" id="{748B7DBA-1646-441C-B638-06CC9FFE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질문 의도 분석</a:t>
            </a:r>
          </a:p>
        </p:txBody>
      </p:sp>
      <p:sp>
        <p:nvSpPr>
          <p:cNvPr id="50" name="summary-node-108">
            <a:extLst xmlns:a="http://schemas.openxmlformats.org/drawingml/2006/main">
              <a:ext uri="{FF2B5EF4-FFF2-40B4-BE49-F238E27FC236}">
                <a16:creationId xmlns:a16="http://schemas.microsoft.com/office/drawing/2014/main" id="{BF2CE86D-2B00-4074-A9C4-FE83F202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29175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저장 정보 조회</a:t>
            </a:r>
          </a:p>
        </p:txBody>
      </p:sp>
      <p:sp>
        <p:nvSpPr>
          <p:cNvPr id="52" name="summary-node-109">
            <a:extLst xmlns:a="http://schemas.openxmlformats.org/drawingml/2006/main">
              <a:ext uri="{FF2B5EF4-FFF2-40B4-BE49-F238E27FC236}">
                <a16:creationId xmlns:a16="http://schemas.microsoft.com/office/drawing/2014/main" id="{E87B20B5-006B-4A9B-BFA3-F82B0029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00700"/>
            <a:ext cx="2057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BE8"/>
            </a:solidFill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답변 표시</a:t>
            </a:r>
          </a:p>
        </p:txBody>
      </p:sp>
    </p:spTree>
    <p:extLst>
      <p:ext uri="{BB962C8B-B14F-4D97-AF65-F5344CB8AC3E}">
        <p14:creationId xmlns:p14="http://schemas.microsoft.com/office/powerpoint/2010/main" val="20791223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ummary-text-110">
            <a:extLst xmlns:a="http://schemas.openxmlformats.org/drawingml/2006/main">
              <a:ext uri="{FF2B5EF4-FFF2-40B4-BE49-F238E27FC236}">
                <a16:creationId xmlns:a16="http://schemas.microsoft.com/office/drawing/2014/main" id="{B2869D84-7131-49F7-B1CC-6215B942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개발 및 테스트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56399-AABF-4E43-8D1C-4198267B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3" name="summary-text-111">
            <a:extLst xmlns:a="http://schemas.openxmlformats.org/drawingml/2006/main">
              <a:ext uri="{FF2B5EF4-FFF2-40B4-BE49-F238E27FC236}">
                <a16:creationId xmlns:a16="http://schemas.microsoft.com/office/drawing/2014/main" id="{F991964C-30A4-46F4-A560-F0B1900B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MOF  5주차 진행 보고</a:t>
            </a:r>
          </a:p>
        </p:txBody>
      </p:sp>
      <p:sp>
        <p:nvSpPr>
          <p:cNvPr id="4" name="summary-text-112">
            <a:extLst xmlns:a="http://schemas.openxmlformats.org/drawingml/2006/main">
              <a:ext uri="{FF2B5EF4-FFF2-40B4-BE49-F238E27FC236}">
                <a16:creationId xmlns:a16="http://schemas.microsoft.com/office/drawing/2014/main" id="{A2CCFB57-7667-4CA9-846D-EE192D9C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24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summary-text-113">
            <a:extLst xmlns:a="http://schemas.openxmlformats.org/drawingml/2006/main">
              <a:ext uri="{FF2B5EF4-FFF2-40B4-BE49-F238E27FC236}">
                <a16:creationId xmlns:a16="http://schemas.microsoft.com/office/drawing/2014/main" id="{4DF6545D-168A-426B-8AC3-E176C6BF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기존 6단계 검증 기록 기준</a:t>
            </a:r>
          </a:p>
        </p:txBody>
      </p:sp>
      <p:sp>
        <p:nvSpPr>
          <p:cNvPr id="6" name="summary-text-114">
            <a:extLst xmlns:a="http://schemas.openxmlformats.org/drawingml/2006/main">
              <a:ext uri="{FF2B5EF4-FFF2-40B4-BE49-F238E27FC236}">
                <a16:creationId xmlns:a16="http://schemas.microsoft.com/office/drawing/2014/main" id="{B64AF7BF-0E0E-4197-ABDC-0D496530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25431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5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5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성공</a:t>
            </a:r>
          </a:p>
        </p:txBody>
      </p:sp>
      <p:sp>
        <p:nvSpPr>
          <p:cNvPr id="7" name="summary-text-115">
            <a:extLst xmlns:a="http://schemas.openxmlformats.org/drawingml/2006/main">
              <a:ext uri="{FF2B5EF4-FFF2-40B4-BE49-F238E27FC236}">
                <a16:creationId xmlns:a16="http://schemas.microsoft.com/office/drawing/2014/main" id="{329542BF-6F0E-4C64-BD74-3B1E08C3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543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앱 빌드</a:t>
            </a:r>
          </a:p>
        </p:txBody>
      </p:sp>
      <p:sp>
        <p:nvSpPr>
          <p:cNvPr id="8" name="summary-text-116">
            <a:extLst xmlns:a="http://schemas.openxmlformats.org/drawingml/2006/main">
              <a:ext uri="{FF2B5EF4-FFF2-40B4-BE49-F238E27FC236}">
                <a16:creationId xmlns:a16="http://schemas.microsoft.com/office/drawing/2014/main" id="{585D5BF9-2EF8-465A-A15F-3EEEA242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19325"/>
            <a:ext cx="25431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30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630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9" name="summary-text-117">
            <a:extLst xmlns:a="http://schemas.openxmlformats.org/drawingml/2006/main">
              <a:ext uri="{FF2B5EF4-FFF2-40B4-BE49-F238E27FC236}">
                <a16:creationId xmlns:a16="http://schemas.microsoft.com/office/drawing/2014/main" id="{4B1FC351-4717-4C89-A7FA-460550D8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71850"/>
            <a:ext cx="2543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단위 테스트 통과</a:t>
            </a:r>
          </a:p>
        </p:txBody>
      </p:sp>
      <p:sp>
        <p:nvSpPr>
          <p:cNvPr id="10" name="summary-text-118">
            <a:extLst xmlns:a="http://schemas.openxmlformats.org/drawingml/2006/main">
              <a:ext uri="{FF2B5EF4-FFF2-40B4-BE49-F238E27FC236}">
                <a16:creationId xmlns:a16="http://schemas.microsoft.com/office/drawing/2014/main" id="{DC1B7A7E-49DE-4F96-B072-3710A890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19325"/>
            <a:ext cx="25431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30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630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11" name="summary-text-119">
            <a:extLst xmlns:a="http://schemas.openxmlformats.org/drawingml/2006/main">
              <a:ext uri="{FF2B5EF4-FFF2-40B4-BE49-F238E27FC236}">
                <a16:creationId xmlns:a16="http://schemas.microsoft.com/office/drawing/2014/main" id="{8B11CC46-437A-4549-AC52-695148C3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2543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Android 테스트 통과</a:t>
            </a:r>
          </a:p>
        </p:txBody>
      </p:sp>
      <p:sp>
        <p:nvSpPr>
          <p:cNvPr id="12" name="summary-text-120">
            <a:extLst xmlns:a="http://schemas.openxmlformats.org/drawingml/2006/main">
              <a:ext uri="{FF2B5EF4-FFF2-40B4-BE49-F238E27FC236}">
                <a16:creationId xmlns:a16="http://schemas.microsoft.com/office/drawing/2014/main" id="{92EA8ADC-4124-4CED-8391-1DBBC8D5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19325"/>
            <a:ext cx="25431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30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6300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3" name="summary-text-121">
            <a:extLst xmlns:a="http://schemas.openxmlformats.org/drawingml/2006/main">
              <a:ext uri="{FF2B5EF4-FFF2-40B4-BE49-F238E27FC236}">
                <a16:creationId xmlns:a16="http://schemas.microsoft.com/office/drawing/2014/main" id="{F0605778-2EE3-4504-9C60-65EA9EAB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71850"/>
            <a:ext cx="2543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Lint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9A8AB-F0B7-48CA-84D6-914805FC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15" name="summary-text-122">
            <a:extLst xmlns:a="http://schemas.openxmlformats.org/drawingml/2006/main">
              <a:ext uri="{FF2B5EF4-FFF2-40B4-BE49-F238E27FC236}">
                <a16:creationId xmlns:a16="http://schemas.microsoft.com/office/drawing/2014/main" id="{A4F68691-6C82-43F0-87CD-09E517C4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Room v4 유지, 기존 데이터 보존</a:t>
            </a:r>
          </a:p>
          <a:p xmlns:a="http://schemas.openxmlformats.org/drawingml/2006/main">
            <a:pPr algn="l">
              <a:def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기존 기능과 화면 이동 검증 통과</a:t>
            </a:r>
          </a:p>
        </p:txBody>
      </p:sp>
      <p:sp>
        <p:nvSpPr>
          <p:cNvPr id="16" name="summary-text-123">
            <a:extLst xmlns:a="http://schemas.openxmlformats.org/drawingml/2006/main">
              <a:ext uri="{FF2B5EF4-FFF2-40B4-BE49-F238E27FC236}">
                <a16:creationId xmlns:a16="http://schemas.microsoft.com/office/drawing/2014/main" id="{D41B2B22-4A55-4439-877F-716FB083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47C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47C7B"/>
                </a:solidFill>
                <a:latin typeface="Malgun Gothic"/>
                <a:ea typeface="Malgun Gothic"/>
                <a:cs typeface="Malgun Gothic"/>
              </a:rPr>
              <a:t>Pixel 7 모의 GPS로 목적지 진입과 도착 알림 확인</a:t>
            </a:r>
          </a:p>
        </p:txBody>
      </p:sp>
      <p:sp>
        <p:nvSpPr>
          <p:cNvPr id="17" name="summary-text-124">
            <a:extLst xmlns:a="http://schemas.openxmlformats.org/drawingml/2006/main">
              <a:ext uri="{FF2B5EF4-FFF2-40B4-BE49-F238E27FC236}">
                <a16:creationId xmlns:a16="http://schemas.microsoft.com/office/drawing/2014/main" id="{F0F8CE90-7190-4240-812F-C02F9E82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실제 스마트폰 GPS 전체 테스트는 추후 진행 예정</a:t>
            </a:r>
          </a:p>
        </p:txBody>
      </p:sp>
    </p:spTree>
    <p:extLst>
      <p:ext uri="{BB962C8B-B14F-4D97-AF65-F5344CB8AC3E}">
        <p14:creationId xmlns:p14="http://schemas.microsoft.com/office/powerpoint/2010/main" val="21121294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mmary-text-125">
            <a:extLst xmlns:a="http://schemas.openxmlformats.org/drawingml/2006/main">
              <a:ext uri="{FF2B5EF4-FFF2-40B4-BE49-F238E27FC236}">
                <a16:creationId xmlns:a16="http://schemas.microsoft.com/office/drawing/2014/main" id="{DD728D84-24DF-43BF-8AF9-9233B0FB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현재 결과와 다음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1D2C9-6CE2-4DD9-88AC-94E7E241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3" name="summary-text-126">
            <a:extLst xmlns:a="http://schemas.openxmlformats.org/drawingml/2006/main">
              <a:ext uri="{FF2B5EF4-FFF2-40B4-BE49-F238E27FC236}">
                <a16:creationId xmlns:a16="http://schemas.microsoft.com/office/drawing/2014/main" id="{86FA2F6C-20AB-4F30-AE37-1C83DBD5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MOF  5주차 진행 보고</a:t>
            </a:r>
          </a:p>
        </p:txBody>
      </p:sp>
      <p:sp>
        <p:nvSpPr>
          <p:cNvPr id="4" name="summary-text-127">
            <a:extLst xmlns:a="http://schemas.openxmlformats.org/drawingml/2006/main">
              <a:ext uri="{FF2B5EF4-FFF2-40B4-BE49-F238E27FC236}">
                <a16:creationId xmlns:a16="http://schemas.microsoft.com/office/drawing/2014/main" id="{8C4EB01B-AB5E-4560-8EAA-21747E76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24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summary-text-128">
            <a:extLst xmlns:a="http://schemas.openxmlformats.org/drawingml/2006/main">
              <a:ext uri="{FF2B5EF4-FFF2-40B4-BE49-F238E27FC236}">
                <a16:creationId xmlns:a16="http://schemas.microsoft.com/office/drawing/2014/main" id="{BA8CD766-B500-446A-B6A5-CB3A7FE7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565BA8"/>
                </a:solidFill>
                <a:latin typeface="Malgun Gothic"/>
                <a:ea typeface="Malgun Gothic"/>
                <a:cs typeface="Malgun Gothic"/>
              </a:rPr>
              <a:t>현재 결과</a:t>
            </a:r>
          </a:p>
        </p:txBody>
      </p:sp>
      <p:sp>
        <p:nvSpPr>
          <p:cNvPr id="6" name="summary-text-129">
            <a:extLst xmlns:a="http://schemas.openxmlformats.org/drawingml/2006/main">
              <a:ext uri="{FF2B5EF4-FFF2-40B4-BE49-F238E27FC236}">
                <a16:creationId xmlns:a16="http://schemas.microsoft.com/office/drawing/2014/main" id="{3DBFE0F4-C4B5-41E1-B36E-76106C60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핵심 기능 5개 통합</a:t>
            </a:r>
          </a:p>
        </p:txBody>
      </p:sp>
      <p:sp>
        <p:nvSpPr>
          <p:cNvPr id="7" name="summary-text-130">
            <a:extLst xmlns:a="http://schemas.openxmlformats.org/drawingml/2006/main">
              <a:ext uri="{FF2B5EF4-FFF2-40B4-BE49-F238E27FC236}">
                <a16:creationId xmlns:a16="http://schemas.microsoft.com/office/drawing/2014/main" id="{9DEFD70A-434D-483A-8D5D-FCED1495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공부 메모와 과제 관리</a:t>
            </a:r>
          </a:p>
          <a:p xmlns:a="http://schemas.openxmlformats.org/drawingml/2006/main">
            <a:pPr algn="l">
              <a:def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시간표와 통학 알림</a:t>
            </a:r>
          </a:p>
          <a:p xmlns:a="http://schemas.openxmlformats.org/drawingml/2006/main">
            <a:pPr algn="l">
              <a:def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저장 정보를 조회하는 챗봇</a:t>
            </a:r>
          </a:p>
        </p:txBody>
      </p:sp>
      <p:sp>
        <p:nvSpPr>
          <p:cNvPr id="8" name="summary-text-131">
            <a:extLst xmlns:a="http://schemas.openxmlformats.org/drawingml/2006/main">
              <a:ext uri="{FF2B5EF4-FFF2-40B4-BE49-F238E27FC236}">
                <a16:creationId xmlns:a16="http://schemas.microsoft.com/office/drawing/2014/main" id="{2E218F67-E58E-4CC9-982C-B4F2F210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581150"/>
            <a:ext cx="4657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7C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7C7B"/>
                </a:solidFill>
                <a:latin typeface="Malgun Gothic"/>
                <a:ea typeface="Malgun Gothic"/>
                <a:cs typeface="Malgun Gothic"/>
              </a:rPr>
              <a:t>다음 계획</a:t>
            </a:r>
          </a:p>
        </p:txBody>
      </p:sp>
      <p:sp>
        <p:nvSpPr>
          <p:cNvPr id="9" name="summary-text-132">
            <a:extLst xmlns:a="http://schemas.openxmlformats.org/drawingml/2006/main">
              <a:ext uri="{FF2B5EF4-FFF2-40B4-BE49-F238E27FC236}">
                <a16:creationId xmlns:a16="http://schemas.microsoft.com/office/drawing/2014/main" id="{7788E6F7-D866-404C-B3C6-B248A1C5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371725"/>
            <a:ext cx="465772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실제 스마트폰 GPS 테스트</a:t>
            </a:r>
          </a:p>
          <a:p xmlns:a="http://schemas.openxmlformats.org/drawingml/2006/main">
            <a:pPr algn="l">
              <a:def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화면과 사용성 개선</a:t>
            </a:r>
          </a:p>
          <a:p xmlns:a="http://schemas.openxmlformats.org/drawingml/2006/main">
            <a:pPr algn="l">
              <a:def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챗봇 질문 범위 확대</a:t>
            </a:r>
          </a:p>
        </p:txBody>
      </p:sp>
      <p:sp>
        <p:nvSpPr>
          <p:cNvPr id="10" name="summary-text-133">
            <a:extLst xmlns:a="http://schemas.openxmlformats.org/drawingml/2006/main">
              <a:ext uri="{FF2B5EF4-FFF2-40B4-BE49-F238E27FC236}">
                <a16:creationId xmlns:a16="http://schemas.microsoft.com/office/drawing/2014/main" id="{4127B0E6-332B-48DC-8284-3789B07C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171950"/>
            <a:ext cx="4657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9"/>
                </a:solidFill>
                <a:latin typeface="Malgun Gothic"/>
                <a:ea typeface="Malgun Gothic"/>
                <a:cs typeface="Malgun Gothic"/>
              </a:rPr>
              <a:t>검토: AI, 시간표 이미지 인식, LMS 연동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FE392-8DF3-446D-AFDB-6A3849C6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4DBE8"/>
            </a:solidFill>
          </a:ln>
        </p:spPr>
      </p:sp>
      <p:sp>
        <p:nvSpPr>
          <p:cNvPr id="12" name="summary-text-134">
            <a:extLst xmlns:a="http://schemas.openxmlformats.org/drawingml/2006/main">
              <a:ext uri="{FF2B5EF4-FFF2-40B4-BE49-F238E27FC236}">
                <a16:creationId xmlns:a16="http://schemas.microsoft.com/office/drawing/2014/main" id="{CD3D49E0-B298-4E97-B9BF-A80918D8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각각의 기능을 하나의 MOF 앱으로 통합하여</a:t>
            </a:r>
          </a:p>
          <a:p xmlns:a="http://schemas.openxmlformats.org/drawingml/2006/main">
            <a:pPr algn="l">
              <a:def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F2946"/>
                </a:solidFill>
                <a:latin typeface="Malgun Gothic"/>
                <a:ea typeface="Malgun Gothic"/>
                <a:cs typeface="Malgun Gothic"/>
              </a:rPr>
              <a:t>학생 개인에게 필요한 정보를 관리하고 제공하는 것을 목표로 한다.</a:t>
            </a:r>
          </a:p>
        </p:txBody>
      </p:sp>
    </p:spTree>
    <p:extLst>
      <p:ext uri="{BB962C8B-B14F-4D97-AF65-F5344CB8AC3E}">
        <p14:creationId xmlns:p14="http://schemas.microsoft.com/office/powerpoint/2010/main" val="2119281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2026-10-09T12:01:29.9090000Z</dcterms:created>
  <dcterms:modified xsi:type="dcterms:W3CDTF">2026-10-09T12:01:29.9090000Z</dcterms:modified>
</coreProperties>
</file>